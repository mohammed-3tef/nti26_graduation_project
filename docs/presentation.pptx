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eague Spartan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Light" charset="1" panose="00000400000000000000"/>
      <p:regular r:id="rId27"/>
    </p:embeddedFont>
    <p:embeddedFont>
      <p:font typeface="Poppins Bold" charset="1" panose="00000800000000000000"/>
      <p:regular r:id="rId28"/>
    </p:embeddedFont>
    <p:embeddedFont>
      <p:font typeface="Boston Angel" charset="1" panose="00000000000000000000"/>
      <p:regular r:id="rId29"/>
    </p:embeddedFont>
    <p:embeddedFont>
      <p:font typeface="DM Sans" charset="1" panose="00000000000000000000"/>
      <p:regular r:id="rId30"/>
    </p:embeddedFont>
    <p:embeddedFont>
      <p:font typeface="Poppins Italic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.png" Type="http://schemas.openxmlformats.org/officeDocument/2006/relationships/image"/><Relationship Id="rId4" Target="https://www.kaggle.com/datasets/pavansubhasht/ibm-hr-analytics-attrition-dataset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18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1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3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4134" y="2995934"/>
            <a:ext cx="16391057" cy="528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9"/>
              </a:lnSpc>
            </a:pPr>
            <a:r>
              <a:rPr lang="en-US" sz="13699" spc="-2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NTI </a:t>
            </a:r>
          </a:p>
          <a:p>
            <a:pPr algn="l">
              <a:lnSpc>
                <a:spcPts val="13699"/>
              </a:lnSpc>
            </a:pPr>
            <a:r>
              <a:rPr lang="en-US" sz="13699" spc="-2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ANALYSIS</a:t>
            </a:r>
          </a:p>
          <a:p>
            <a:pPr algn="l">
              <a:lnSpc>
                <a:spcPts val="13699"/>
              </a:lnSpc>
            </a:pPr>
            <a:r>
              <a:rPr lang="en-US" sz="13699" spc="-2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PROJECT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510237"/>
            <a:ext cx="370872" cy="384751"/>
            <a:chOff x="0" y="0"/>
            <a:chExt cx="494495" cy="513001"/>
          </a:xfrm>
        </p:grpSpPr>
        <p:sp>
          <p:nvSpPr>
            <p:cNvPr name="AutoShape 5" id="5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964463" y="824919"/>
            <a:ext cx="4659090" cy="2405101"/>
            <a:chOff x="0" y="0"/>
            <a:chExt cx="1626497" cy="8396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6497" cy="839625"/>
            </a:xfrm>
            <a:custGeom>
              <a:avLst/>
              <a:gdLst/>
              <a:ahLst/>
              <a:cxnLst/>
              <a:rect r="r" b="b" t="t" l="l"/>
              <a:pathLst>
                <a:path h="839625" w="1626497">
                  <a:moveTo>
                    <a:pt x="61482" y="0"/>
                  </a:moveTo>
                  <a:lnTo>
                    <a:pt x="1565015" y="0"/>
                  </a:lnTo>
                  <a:cubicBezTo>
                    <a:pt x="1598971" y="0"/>
                    <a:pt x="1626497" y="27527"/>
                    <a:pt x="1626497" y="61482"/>
                  </a:cubicBezTo>
                  <a:lnTo>
                    <a:pt x="1626497" y="778143"/>
                  </a:lnTo>
                  <a:cubicBezTo>
                    <a:pt x="1626497" y="794449"/>
                    <a:pt x="1620020" y="810087"/>
                    <a:pt x="1608489" y="821617"/>
                  </a:cubicBezTo>
                  <a:cubicBezTo>
                    <a:pt x="1596959" y="833148"/>
                    <a:pt x="1581321" y="839625"/>
                    <a:pt x="1565015" y="839625"/>
                  </a:cubicBezTo>
                  <a:lnTo>
                    <a:pt x="61482" y="839625"/>
                  </a:lnTo>
                  <a:cubicBezTo>
                    <a:pt x="45176" y="839625"/>
                    <a:pt x="29538" y="833148"/>
                    <a:pt x="18008" y="821617"/>
                  </a:cubicBezTo>
                  <a:cubicBezTo>
                    <a:pt x="6478" y="810087"/>
                    <a:pt x="0" y="794449"/>
                    <a:pt x="0" y="778143"/>
                  </a:cubicBezTo>
                  <a:lnTo>
                    <a:pt x="0" y="61482"/>
                  </a:lnTo>
                  <a:cubicBezTo>
                    <a:pt x="0" y="45176"/>
                    <a:pt x="6478" y="29538"/>
                    <a:pt x="18008" y="18008"/>
                  </a:cubicBezTo>
                  <a:cubicBezTo>
                    <a:pt x="29538" y="6478"/>
                    <a:pt x="45176" y="0"/>
                    <a:pt x="61482" y="0"/>
                  </a:cubicBezTo>
                  <a:close/>
                </a:path>
              </a:pathLst>
            </a:custGeom>
            <a:solidFill>
              <a:srgbClr val="1B75BB">
                <a:alpha val="3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626497" cy="83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149265" y="978658"/>
            <a:ext cx="4286915" cy="2072009"/>
          </a:xfrm>
          <a:custGeom>
            <a:avLst/>
            <a:gdLst/>
            <a:ahLst/>
            <a:cxnLst/>
            <a:rect r="r" b="b" t="t" l="l"/>
            <a:pathLst>
              <a:path h="2072009" w="4286915">
                <a:moveTo>
                  <a:pt x="0" y="0"/>
                </a:moveTo>
                <a:lnTo>
                  <a:pt x="4286915" y="0"/>
                </a:lnTo>
                <a:lnTo>
                  <a:pt x="4286915" y="2072009"/>
                </a:lnTo>
                <a:lnTo>
                  <a:pt x="0" y="2072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90789" y="8745995"/>
            <a:ext cx="2523945" cy="43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30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AUGEST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161900"/>
            <a:ext cx="16391057" cy="78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401" spc="-1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RAW DATA TO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349" y="1052451"/>
            <a:ext cx="5547158" cy="104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73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263471" y="127245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79532" y="1962150"/>
            <a:ext cx="561863" cy="67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21383" y="1813076"/>
            <a:ext cx="4474730" cy="4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Hla Hany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79532" y="3748897"/>
            <a:ext cx="739377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21383" y="3678573"/>
            <a:ext cx="4474730" cy="4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Mohammed Atef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9532" y="5535644"/>
            <a:ext cx="747457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1383" y="5465320"/>
            <a:ext cx="4474730" cy="4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Mahmoud Hassan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9532" y="7322391"/>
            <a:ext cx="76485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1383" y="7252067"/>
            <a:ext cx="4474730" cy="4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Youssef Aly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79532" y="3164753"/>
            <a:ext cx="8989809" cy="0"/>
          </a:xfrm>
          <a:prstGeom prst="line">
            <a:avLst/>
          </a:prstGeom>
          <a:ln cap="flat" w="190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379532" y="4951500"/>
            <a:ext cx="8989809" cy="0"/>
          </a:xfrm>
          <a:prstGeom prst="line">
            <a:avLst/>
          </a:prstGeom>
          <a:ln cap="flat" w="190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379532" y="6738247"/>
            <a:ext cx="8989809" cy="0"/>
          </a:xfrm>
          <a:prstGeom prst="line">
            <a:avLst/>
          </a:prstGeom>
          <a:ln cap="flat" w="190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379532" y="8524993"/>
            <a:ext cx="8989809" cy="0"/>
          </a:xfrm>
          <a:prstGeom prst="line">
            <a:avLst/>
          </a:prstGeom>
          <a:ln cap="flat" w="190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51349" y="2247567"/>
            <a:ext cx="745304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521383" y="2369242"/>
            <a:ext cx="4474730" cy="39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7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Exploring The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21383" y="4077197"/>
            <a:ext cx="5904071" cy="39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7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Processing And Cleaning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21383" y="5863944"/>
            <a:ext cx="5800119" cy="39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7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Answering Bussiness Questions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21383" y="7650691"/>
            <a:ext cx="4474730" cy="39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7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Dashboard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60022" y="0"/>
            <a:ext cx="20814942" cy="10287000"/>
          </a:xfrm>
          <a:custGeom>
            <a:avLst/>
            <a:gdLst/>
            <a:ahLst/>
            <a:cxnLst/>
            <a:rect r="r" b="b" t="t" l="l"/>
            <a:pathLst>
              <a:path h="10287000" w="20814942">
                <a:moveTo>
                  <a:pt x="0" y="0"/>
                </a:moveTo>
                <a:lnTo>
                  <a:pt x="20814942" y="0"/>
                </a:lnTo>
                <a:lnTo>
                  <a:pt x="208149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8279" t="0" r="-82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8142" y="1295816"/>
            <a:ext cx="9310378" cy="10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742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142" y="3403291"/>
            <a:ext cx="443692" cy="54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40389" y="4840490"/>
            <a:ext cx="5769621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0229" y="3403291"/>
            <a:ext cx="608287" cy="5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142" y="4814249"/>
            <a:ext cx="583871" cy="5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0229" y="4814249"/>
            <a:ext cx="608287" cy="5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8142" y="6225207"/>
            <a:ext cx="590252" cy="5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8142" y="7636165"/>
            <a:ext cx="603994" cy="5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384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58142" y="4359992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160229" y="4359992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458142" y="5770950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160229" y="5770950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58142" y="7181908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458142" y="8592866"/>
            <a:ext cx="7099071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458142" y="2455553"/>
            <a:ext cx="3174050" cy="0"/>
          </a:xfrm>
          <a:prstGeom prst="line">
            <a:avLst/>
          </a:prstGeom>
          <a:ln cap="flat" w="4762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340389" y="3429548"/>
            <a:ext cx="7257381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 &amp; 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40389" y="6251448"/>
            <a:ext cx="7207060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 &amp; Cleaning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40389" y="7662406"/>
            <a:ext cx="7207060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</a:t>
            </a: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ploratory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80940" y="3429548"/>
            <a:ext cx="5002986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</a:t>
            </a: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3791" y="4840490"/>
            <a:ext cx="5002986" cy="48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3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082921" cy="13686573"/>
          </a:xfrm>
          <a:custGeom>
            <a:avLst/>
            <a:gdLst/>
            <a:ahLst/>
            <a:cxnLst/>
            <a:rect r="r" b="b" t="t" l="l"/>
            <a:pathLst>
              <a:path h="13686573" w="6082921">
                <a:moveTo>
                  <a:pt x="0" y="0"/>
                </a:moveTo>
                <a:lnTo>
                  <a:pt x="6082921" y="0"/>
                </a:lnTo>
                <a:lnTo>
                  <a:pt x="6082921" y="13686573"/>
                </a:lnTo>
                <a:lnTo>
                  <a:pt x="0" y="13686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493515" y="861064"/>
            <a:ext cx="15077983" cy="6318035"/>
          </a:xfrm>
          <a:custGeom>
            <a:avLst/>
            <a:gdLst/>
            <a:ahLst/>
            <a:cxnLst/>
            <a:rect r="r" b="b" t="t" l="l"/>
            <a:pathLst>
              <a:path h="6318035" w="15077983">
                <a:moveTo>
                  <a:pt x="15077983" y="0"/>
                </a:moveTo>
                <a:lnTo>
                  <a:pt x="0" y="0"/>
                </a:lnTo>
                <a:lnTo>
                  <a:pt x="0" y="6318036"/>
                </a:lnTo>
                <a:lnTo>
                  <a:pt x="15077983" y="6318036"/>
                </a:lnTo>
                <a:lnTo>
                  <a:pt x="15077983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-593" r="0" b="-59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64618" y="0"/>
            <a:ext cx="3876497" cy="10287000"/>
            <a:chOff x="0" y="0"/>
            <a:chExt cx="102097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7175799" y="2368215"/>
            <a:ext cx="2463573" cy="0"/>
          </a:xfrm>
          <a:prstGeom prst="line">
            <a:avLst/>
          </a:prstGeom>
          <a:ln cap="flat" w="571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213786" y="6637997"/>
            <a:ext cx="2463573" cy="0"/>
          </a:xfrm>
          <a:prstGeom prst="line">
            <a:avLst/>
          </a:prstGeom>
          <a:ln cap="flat" w="571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175799" y="6988648"/>
            <a:ext cx="2330472" cy="2949451"/>
            <a:chOff x="0" y="0"/>
            <a:chExt cx="563842" cy="713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3842" cy="713600"/>
            </a:xfrm>
            <a:custGeom>
              <a:avLst/>
              <a:gdLst/>
              <a:ahLst/>
              <a:cxnLst/>
              <a:rect r="r" b="b" t="t" l="l"/>
              <a:pathLst>
                <a:path h="713600" w="563842">
                  <a:moveTo>
                    <a:pt x="169424" y="0"/>
                  </a:moveTo>
                  <a:lnTo>
                    <a:pt x="394418" y="0"/>
                  </a:lnTo>
                  <a:cubicBezTo>
                    <a:pt x="439352" y="0"/>
                    <a:pt x="482446" y="17850"/>
                    <a:pt x="514219" y="49623"/>
                  </a:cubicBezTo>
                  <a:cubicBezTo>
                    <a:pt x="545992" y="81396"/>
                    <a:pt x="563842" y="124490"/>
                    <a:pt x="563842" y="169424"/>
                  </a:cubicBezTo>
                  <a:lnTo>
                    <a:pt x="563842" y="544176"/>
                  </a:lnTo>
                  <a:cubicBezTo>
                    <a:pt x="563842" y="589110"/>
                    <a:pt x="545992" y="632204"/>
                    <a:pt x="514219" y="663977"/>
                  </a:cubicBezTo>
                  <a:cubicBezTo>
                    <a:pt x="482446" y="695750"/>
                    <a:pt x="439352" y="713600"/>
                    <a:pt x="394418" y="713600"/>
                  </a:cubicBezTo>
                  <a:lnTo>
                    <a:pt x="169424" y="713600"/>
                  </a:lnTo>
                  <a:cubicBezTo>
                    <a:pt x="124490" y="713600"/>
                    <a:pt x="81396" y="695750"/>
                    <a:pt x="49623" y="663977"/>
                  </a:cubicBezTo>
                  <a:cubicBezTo>
                    <a:pt x="17850" y="632204"/>
                    <a:pt x="0" y="589110"/>
                    <a:pt x="0" y="544176"/>
                  </a:cubicBezTo>
                  <a:lnTo>
                    <a:pt x="0" y="169424"/>
                  </a:lnTo>
                  <a:cubicBezTo>
                    <a:pt x="0" y="124490"/>
                    <a:pt x="17850" y="81396"/>
                    <a:pt x="49623" y="49623"/>
                  </a:cubicBezTo>
                  <a:cubicBezTo>
                    <a:pt x="81396" y="17850"/>
                    <a:pt x="124490" y="0"/>
                    <a:pt x="169424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63842" cy="77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1675" y="6988648"/>
            <a:ext cx="2330472" cy="2949451"/>
            <a:chOff x="0" y="0"/>
            <a:chExt cx="563842" cy="713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3842" cy="713600"/>
            </a:xfrm>
            <a:custGeom>
              <a:avLst/>
              <a:gdLst/>
              <a:ahLst/>
              <a:cxnLst/>
              <a:rect r="r" b="b" t="t" l="l"/>
              <a:pathLst>
                <a:path h="713600" w="563842">
                  <a:moveTo>
                    <a:pt x="169424" y="0"/>
                  </a:moveTo>
                  <a:lnTo>
                    <a:pt x="394418" y="0"/>
                  </a:lnTo>
                  <a:cubicBezTo>
                    <a:pt x="439352" y="0"/>
                    <a:pt x="482446" y="17850"/>
                    <a:pt x="514219" y="49623"/>
                  </a:cubicBezTo>
                  <a:cubicBezTo>
                    <a:pt x="545992" y="81396"/>
                    <a:pt x="563842" y="124490"/>
                    <a:pt x="563842" y="169424"/>
                  </a:cubicBezTo>
                  <a:lnTo>
                    <a:pt x="563842" y="544176"/>
                  </a:lnTo>
                  <a:cubicBezTo>
                    <a:pt x="563842" y="589110"/>
                    <a:pt x="545992" y="632204"/>
                    <a:pt x="514219" y="663977"/>
                  </a:cubicBezTo>
                  <a:cubicBezTo>
                    <a:pt x="482446" y="695750"/>
                    <a:pt x="439352" y="713600"/>
                    <a:pt x="394418" y="713600"/>
                  </a:cubicBezTo>
                  <a:lnTo>
                    <a:pt x="169424" y="713600"/>
                  </a:lnTo>
                  <a:cubicBezTo>
                    <a:pt x="124490" y="713600"/>
                    <a:pt x="81396" y="695750"/>
                    <a:pt x="49623" y="663977"/>
                  </a:cubicBezTo>
                  <a:cubicBezTo>
                    <a:pt x="17850" y="632204"/>
                    <a:pt x="0" y="589110"/>
                    <a:pt x="0" y="544176"/>
                  </a:cubicBezTo>
                  <a:lnTo>
                    <a:pt x="0" y="169424"/>
                  </a:lnTo>
                  <a:cubicBezTo>
                    <a:pt x="0" y="124490"/>
                    <a:pt x="17850" y="81396"/>
                    <a:pt x="49623" y="49623"/>
                  </a:cubicBezTo>
                  <a:cubicBezTo>
                    <a:pt x="81396" y="17850"/>
                    <a:pt x="124490" y="0"/>
                    <a:pt x="169424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63842" cy="77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7552" y="6988648"/>
            <a:ext cx="2330472" cy="2949451"/>
            <a:chOff x="0" y="0"/>
            <a:chExt cx="563842" cy="713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3842" cy="713600"/>
            </a:xfrm>
            <a:custGeom>
              <a:avLst/>
              <a:gdLst/>
              <a:ahLst/>
              <a:cxnLst/>
              <a:rect r="r" b="b" t="t" l="l"/>
              <a:pathLst>
                <a:path h="713600" w="563842">
                  <a:moveTo>
                    <a:pt x="169424" y="0"/>
                  </a:moveTo>
                  <a:lnTo>
                    <a:pt x="394418" y="0"/>
                  </a:lnTo>
                  <a:cubicBezTo>
                    <a:pt x="439352" y="0"/>
                    <a:pt x="482446" y="17850"/>
                    <a:pt x="514219" y="49623"/>
                  </a:cubicBezTo>
                  <a:cubicBezTo>
                    <a:pt x="545992" y="81396"/>
                    <a:pt x="563842" y="124490"/>
                    <a:pt x="563842" y="169424"/>
                  </a:cubicBezTo>
                  <a:lnTo>
                    <a:pt x="563842" y="544176"/>
                  </a:lnTo>
                  <a:cubicBezTo>
                    <a:pt x="563842" y="589110"/>
                    <a:pt x="545992" y="632204"/>
                    <a:pt x="514219" y="663977"/>
                  </a:cubicBezTo>
                  <a:cubicBezTo>
                    <a:pt x="482446" y="695750"/>
                    <a:pt x="439352" y="713600"/>
                    <a:pt x="394418" y="713600"/>
                  </a:cubicBezTo>
                  <a:lnTo>
                    <a:pt x="169424" y="713600"/>
                  </a:lnTo>
                  <a:cubicBezTo>
                    <a:pt x="124490" y="713600"/>
                    <a:pt x="81396" y="695750"/>
                    <a:pt x="49623" y="663977"/>
                  </a:cubicBezTo>
                  <a:cubicBezTo>
                    <a:pt x="17850" y="632204"/>
                    <a:pt x="0" y="589110"/>
                    <a:pt x="0" y="544176"/>
                  </a:cubicBezTo>
                  <a:lnTo>
                    <a:pt x="0" y="169424"/>
                  </a:lnTo>
                  <a:cubicBezTo>
                    <a:pt x="0" y="124490"/>
                    <a:pt x="17850" y="81396"/>
                    <a:pt x="49623" y="49623"/>
                  </a:cubicBezTo>
                  <a:cubicBezTo>
                    <a:pt x="81396" y="17850"/>
                    <a:pt x="124490" y="0"/>
                    <a:pt x="169424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63842" cy="77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933429" y="6988648"/>
            <a:ext cx="2330472" cy="2949451"/>
            <a:chOff x="0" y="0"/>
            <a:chExt cx="563842" cy="713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3842" cy="713600"/>
            </a:xfrm>
            <a:custGeom>
              <a:avLst/>
              <a:gdLst/>
              <a:ahLst/>
              <a:cxnLst/>
              <a:rect r="r" b="b" t="t" l="l"/>
              <a:pathLst>
                <a:path h="713600" w="563842">
                  <a:moveTo>
                    <a:pt x="169424" y="0"/>
                  </a:moveTo>
                  <a:lnTo>
                    <a:pt x="394418" y="0"/>
                  </a:lnTo>
                  <a:cubicBezTo>
                    <a:pt x="439352" y="0"/>
                    <a:pt x="482446" y="17850"/>
                    <a:pt x="514219" y="49623"/>
                  </a:cubicBezTo>
                  <a:cubicBezTo>
                    <a:pt x="545992" y="81396"/>
                    <a:pt x="563842" y="124490"/>
                    <a:pt x="563842" y="169424"/>
                  </a:cubicBezTo>
                  <a:lnTo>
                    <a:pt x="563842" y="544176"/>
                  </a:lnTo>
                  <a:cubicBezTo>
                    <a:pt x="563842" y="589110"/>
                    <a:pt x="545992" y="632204"/>
                    <a:pt x="514219" y="663977"/>
                  </a:cubicBezTo>
                  <a:cubicBezTo>
                    <a:pt x="482446" y="695750"/>
                    <a:pt x="439352" y="713600"/>
                    <a:pt x="394418" y="713600"/>
                  </a:cubicBezTo>
                  <a:lnTo>
                    <a:pt x="169424" y="713600"/>
                  </a:lnTo>
                  <a:cubicBezTo>
                    <a:pt x="124490" y="713600"/>
                    <a:pt x="81396" y="695750"/>
                    <a:pt x="49623" y="663977"/>
                  </a:cubicBezTo>
                  <a:cubicBezTo>
                    <a:pt x="17850" y="632204"/>
                    <a:pt x="0" y="589110"/>
                    <a:pt x="0" y="544176"/>
                  </a:cubicBezTo>
                  <a:lnTo>
                    <a:pt x="0" y="169424"/>
                  </a:lnTo>
                  <a:cubicBezTo>
                    <a:pt x="0" y="124490"/>
                    <a:pt x="17850" y="81396"/>
                    <a:pt x="49623" y="49623"/>
                  </a:cubicBezTo>
                  <a:cubicBezTo>
                    <a:pt x="81396" y="17850"/>
                    <a:pt x="124490" y="0"/>
                    <a:pt x="169424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63842" cy="77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925327" y="7311317"/>
            <a:ext cx="828979" cy="809636"/>
          </a:xfrm>
          <a:custGeom>
            <a:avLst/>
            <a:gdLst/>
            <a:ahLst/>
            <a:cxnLst/>
            <a:rect r="r" b="b" t="t" l="l"/>
            <a:pathLst>
              <a:path h="809636" w="828979">
                <a:moveTo>
                  <a:pt x="0" y="0"/>
                </a:moveTo>
                <a:lnTo>
                  <a:pt x="828979" y="0"/>
                </a:lnTo>
                <a:lnTo>
                  <a:pt x="828979" y="809636"/>
                </a:lnTo>
                <a:lnTo>
                  <a:pt x="0" y="809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848433" y="8765698"/>
            <a:ext cx="985204" cy="98520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34309" y="8765698"/>
            <a:ext cx="985204" cy="98520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16072" y="8765698"/>
            <a:ext cx="985204" cy="98520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601949" y="8765698"/>
            <a:ext cx="985204" cy="98520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489945" y="7311317"/>
            <a:ext cx="873931" cy="873931"/>
          </a:xfrm>
          <a:custGeom>
            <a:avLst/>
            <a:gdLst/>
            <a:ahLst/>
            <a:cxnLst/>
            <a:rect r="r" b="b" t="t" l="l"/>
            <a:pathLst>
              <a:path h="873931" w="873931">
                <a:moveTo>
                  <a:pt x="0" y="0"/>
                </a:moveTo>
                <a:lnTo>
                  <a:pt x="873932" y="0"/>
                </a:lnTo>
                <a:lnTo>
                  <a:pt x="873932" y="873931"/>
                </a:lnTo>
                <a:lnTo>
                  <a:pt x="0" y="873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141512" y="7348973"/>
            <a:ext cx="734324" cy="7343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269735" y="7473082"/>
            <a:ext cx="486105" cy="486105"/>
          </a:xfrm>
          <a:custGeom>
            <a:avLst/>
            <a:gdLst/>
            <a:ahLst/>
            <a:cxnLst/>
            <a:rect r="r" b="b" t="t" l="l"/>
            <a:pathLst>
              <a:path h="486105" w="486105">
                <a:moveTo>
                  <a:pt x="0" y="0"/>
                </a:moveTo>
                <a:lnTo>
                  <a:pt x="486106" y="0"/>
                </a:lnTo>
                <a:lnTo>
                  <a:pt x="486106" y="486106"/>
                </a:lnTo>
                <a:lnTo>
                  <a:pt x="0" y="4861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5725774" y="7311317"/>
            <a:ext cx="734324" cy="73432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5871344" y="7451158"/>
            <a:ext cx="464929" cy="464929"/>
          </a:xfrm>
          <a:custGeom>
            <a:avLst/>
            <a:gdLst/>
            <a:ahLst/>
            <a:cxnLst/>
            <a:rect r="r" b="b" t="t" l="l"/>
            <a:pathLst>
              <a:path h="464929" w="464929">
                <a:moveTo>
                  <a:pt x="0" y="0"/>
                </a:moveTo>
                <a:lnTo>
                  <a:pt x="464929" y="0"/>
                </a:lnTo>
                <a:lnTo>
                  <a:pt x="464929" y="464929"/>
                </a:lnTo>
                <a:lnTo>
                  <a:pt x="0" y="4649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137812" y="1444908"/>
            <a:ext cx="11540061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43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 &amp; OBJECTIVES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37812" y="2618523"/>
            <a:ext cx="10335579" cy="238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33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Team </a:t>
            </a:r>
            <a:r>
              <a:rPr lang="en-US" sz="33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 as People Analytics analysts for a IBM's HR department, investigating why employees leave and which departments/roles are most affected, to inform retention strategy.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75799" y="5714689"/>
            <a:ext cx="4660943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43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75180" y="8979781"/>
            <a:ext cx="475216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b="true" sz="43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89303" y="8979781"/>
            <a:ext cx="475216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b="true" sz="43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02209" y="8979781"/>
            <a:ext cx="475216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b="true" sz="43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861057" y="8979781"/>
            <a:ext cx="475216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b="true" sz="43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448298" y="8204298"/>
            <a:ext cx="1785473" cy="43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b="true" sz="30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EXCEL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51269" y="8243985"/>
            <a:ext cx="1785473" cy="35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b="true" sz="2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25547" y="8204298"/>
            <a:ext cx="1785473" cy="43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b="true" sz="30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73075" y="8204298"/>
            <a:ext cx="2042952" cy="39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5"/>
              </a:lnSpc>
            </a:pPr>
            <a:r>
              <a:rPr lang="en-US" b="true" sz="27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137812" y="551835"/>
            <a:ext cx="561863" cy="67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AutoShape 55" id="55"/>
          <p:cNvSpPr/>
          <p:nvPr/>
        </p:nvSpPr>
        <p:spPr>
          <a:xfrm>
            <a:off x="9144000" y="8765698"/>
            <a:ext cx="1186018" cy="0"/>
          </a:xfrm>
          <a:prstGeom prst="line">
            <a:avLst/>
          </a:prstGeom>
          <a:ln cap="flat" w="142875">
            <a:solidFill>
              <a:srgbClr val="D2B99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6" id="56"/>
          <p:cNvSpPr/>
          <p:nvPr/>
        </p:nvSpPr>
        <p:spPr>
          <a:xfrm>
            <a:off x="11712592" y="8837136"/>
            <a:ext cx="1186018" cy="0"/>
          </a:xfrm>
          <a:prstGeom prst="line">
            <a:avLst/>
          </a:prstGeom>
          <a:ln cap="flat" w="142875">
            <a:solidFill>
              <a:srgbClr val="D2B99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>
            <a:off x="14340420" y="8837136"/>
            <a:ext cx="1186018" cy="0"/>
          </a:xfrm>
          <a:prstGeom prst="line">
            <a:avLst/>
          </a:prstGeom>
          <a:ln cap="flat" w="142875">
            <a:solidFill>
              <a:srgbClr val="D2B99A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7405" y="953950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1659" y="2501486"/>
            <a:ext cx="2306339" cy="0"/>
          </a:xfrm>
          <a:prstGeom prst="line">
            <a:avLst/>
          </a:prstGeom>
          <a:ln cap="flat" w="571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38346" y="2878913"/>
            <a:ext cx="4707995" cy="6073303"/>
            <a:chOff x="0" y="0"/>
            <a:chExt cx="1139068" cy="1469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068" cy="1469395"/>
            </a:xfrm>
            <a:custGeom>
              <a:avLst/>
              <a:gdLst/>
              <a:ahLst/>
              <a:cxnLst/>
              <a:rect r="r" b="b" t="t" l="l"/>
              <a:pathLst>
                <a:path h="1469395" w="1139068">
                  <a:moveTo>
                    <a:pt x="83865" y="0"/>
                  </a:moveTo>
                  <a:lnTo>
                    <a:pt x="1055203" y="0"/>
                  </a:lnTo>
                  <a:cubicBezTo>
                    <a:pt x="1101520" y="0"/>
                    <a:pt x="1139068" y="37548"/>
                    <a:pt x="1139068" y="83865"/>
                  </a:cubicBezTo>
                  <a:lnTo>
                    <a:pt x="1139068" y="1385530"/>
                  </a:lnTo>
                  <a:cubicBezTo>
                    <a:pt x="1139068" y="1431847"/>
                    <a:pt x="1101520" y="1469395"/>
                    <a:pt x="1055203" y="1469395"/>
                  </a:cubicBezTo>
                  <a:lnTo>
                    <a:pt x="83865" y="1469395"/>
                  </a:lnTo>
                  <a:cubicBezTo>
                    <a:pt x="37548" y="1469395"/>
                    <a:pt x="0" y="1431847"/>
                    <a:pt x="0" y="1385530"/>
                  </a:cubicBezTo>
                  <a:lnTo>
                    <a:pt x="0" y="83865"/>
                  </a:lnTo>
                  <a:cubicBezTo>
                    <a:pt x="0" y="37548"/>
                    <a:pt x="37548" y="0"/>
                    <a:pt x="83865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9068" cy="152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90002" y="2863436"/>
            <a:ext cx="4707995" cy="6073303"/>
            <a:chOff x="0" y="0"/>
            <a:chExt cx="1139068" cy="14693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068" cy="1469395"/>
            </a:xfrm>
            <a:custGeom>
              <a:avLst/>
              <a:gdLst/>
              <a:ahLst/>
              <a:cxnLst/>
              <a:rect r="r" b="b" t="t" l="l"/>
              <a:pathLst>
                <a:path h="1469395" w="1139068">
                  <a:moveTo>
                    <a:pt x="83865" y="0"/>
                  </a:moveTo>
                  <a:lnTo>
                    <a:pt x="1055203" y="0"/>
                  </a:lnTo>
                  <a:cubicBezTo>
                    <a:pt x="1101520" y="0"/>
                    <a:pt x="1139068" y="37548"/>
                    <a:pt x="1139068" y="83865"/>
                  </a:cubicBezTo>
                  <a:lnTo>
                    <a:pt x="1139068" y="1385530"/>
                  </a:lnTo>
                  <a:cubicBezTo>
                    <a:pt x="1139068" y="1431847"/>
                    <a:pt x="1101520" y="1469395"/>
                    <a:pt x="1055203" y="1469395"/>
                  </a:cubicBezTo>
                  <a:lnTo>
                    <a:pt x="83865" y="1469395"/>
                  </a:lnTo>
                  <a:cubicBezTo>
                    <a:pt x="37548" y="1469395"/>
                    <a:pt x="0" y="1431847"/>
                    <a:pt x="0" y="1385530"/>
                  </a:cubicBezTo>
                  <a:lnTo>
                    <a:pt x="0" y="83865"/>
                  </a:lnTo>
                  <a:cubicBezTo>
                    <a:pt x="0" y="37548"/>
                    <a:pt x="37548" y="0"/>
                    <a:pt x="83865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139068" cy="152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41659" y="2878913"/>
            <a:ext cx="4707995" cy="6073303"/>
            <a:chOff x="0" y="0"/>
            <a:chExt cx="1139068" cy="14693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9068" cy="1469395"/>
            </a:xfrm>
            <a:custGeom>
              <a:avLst/>
              <a:gdLst/>
              <a:ahLst/>
              <a:cxnLst/>
              <a:rect r="r" b="b" t="t" l="l"/>
              <a:pathLst>
                <a:path h="1469395" w="1139068">
                  <a:moveTo>
                    <a:pt x="83865" y="0"/>
                  </a:moveTo>
                  <a:lnTo>
                    <a:pt x="1055203" y="0"/>
                  </a:lnTo>
                  <a:cubicBezTo>
                    <a:pt x="1101520" y="0"/>
                    <a:pt x="1139068" y="37548"/>
                    <a:pt x="1139068" y="83865"/>
                  </a:cubicBezTo>
                  <a:lnTo>
                    <a:pt x="1139068" y="1385530"/>
                  </a:lnTo>
                  <a:cubicBezTo>
                    <a:pt x="1139068" y="1431847"/>
                    <a:pt x="1101520" y="1469395"/>
                    <a:pt x="1055203" y="1469395"/>
                  </a:cubicBezTo>
                  <a:lnTo>
                    <a:pt x="83865" y="1469395"/>
                  </a:lnTo>
                  <a:cubicBezTo>
                    <a:pt x="37548" y="1469395"/>
                    <a:pt x="0" y="1431847"/>
                    <a:pt x="0" y="1385530"/>
                  </a:cubicBezTo>
                  <a:lnTo>
                    <a:pt x="0" y="83865"/>
                  </a:lnTo>
                  <a:cubicBezTo>
                    <a:pt x="0" y="37548"/>
                    <a:pt x="37548" y="0"/>
                    <a:pt x="83865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39068" cy="152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1376" y="5848890"/>
            <a:ext cx="4088561" cy="269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Understanding the data we are dealing with, exploring dataset inconsistencies, null values, duplicate data, and the kinds of columns we are dealing with, an then cleaning it.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63227" y="3717525"/>
            <a:ext cx="1138436" cy="918540"/>
          </a:xfrm>
          <a:custGeom>
            <a:avLst/>
            <a:gdLst/>
            <a:ahLst/>
            <a:cxnLst/>
            <a:rect r="r" b="b" t="t" l="l"/>
            <a:pathLst>
              <a:path h="918540" w="1138436">
                <a:moveTo>
                  <a:pt x="0" y="0"/>
                </a:moveTo>
                <a:lnTo>
                  <a:pt x="1138436" y="0"/>
                </a:lnTo>
                <a:lnTo>
                  <a:pt x="1138436" y="918540"/>
                </a:lnTo>
                <a:lnTo>
                  <a:pt x="0" y="918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11689" y="3717525"/>
            <a:ext cx="1065817" cy="918540"/>
          </a:xfrm>
          <a:custGeom>
            <a:avLst/>
            <a:gdLst/>
            <a:ahLst/>
            <a:cxnLst/>
            <a:rect r="r" b="b" t="t" l="l"/>
            <a:pathLst>
              <a:path h="918540" w="1065817">
                <a:moveTo>
                  <a:pt x="0" y="0"/>
                </a:moveTo>
                <a:lnTo>
                  <a:pt x="1065817" y="0"/>
                </a:lnTo>
                <a:lnTo>
                  <a:pt x="1065817" y="918540"/>
                </a:lnTo>
                <a:lnTo>
                  <a:pt x="0" y="918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93093" y="3648621"/>
            <a:ext cx="1142639" cy="914172"/>
          </a:xfrm>
          <a:custGeom>
            <a:avLst/>
            <a:gdLst/>
            <a:ahLst/>
            <a:cxnLst/>
            <a:rect r="r" b="b" t="t" l="l"/>
            <a:pathLst>
              <a:path h="914172" w="1142639">
                <a:moveTo>
                  <a:pt x="0" y="0"/>
                </a:moveTo>
                <a:lnTo>
                  <a:pt x="1142639" y="0"/>
                </a:lnTo>
                <a:lnTo>
                  <a:pt x="1142639" y="914172"/>
                </a:lnTo>
                <a:lnTo>
                  <a:pt x="0" y="914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51376" y="4843318"/>
            <a:ext cx="4286428" cy="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Exploring &amp; Cleaning The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6059" y="4776774"/>
            <a:ext cx="4286428" cy="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Answering Bussiness Questions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9130" y="4786096"/>
            <a:ext cx="4286428" cy="91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26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Dashboarding &amp; Reporting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21918" y="5731280"/>
            <a:ext cx="4266665" cy="279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6"/>
              </a:lnSpc>
              <a:spcBef>
                <a:spcPct val="0"/>
              </a:spcBef>
            </a:pPr>
            <a:r>
              <a:rPr lang="en-US" sz="226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After Cleaning the Dataset , We go on exploring what the data have to offer by answering bussiness questions, discovering patterns And Extracting Important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4613" y="5833412"/>
            <a:ext cx="4384830" cy="262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143" strike="noStrike" u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Now</a:t>
            </a:r>
            <a:r>
              <a:rPr lang="en-US" sz="2143" strike="noStrike" u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that we have explored the dataset and extracted important insights, we can move on to visualizing the data for non-technical people, making the insights easier to understand and communicate.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1659" y="1553923"/>
            <a:ext cx="11540061" cy="6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43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 &amp; OBJECTIVES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659" y="719471"/>
            <a:ext cx="561863" cy="67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36619" y="1932"/>
            <a:ext cx="9810750" cy="10287000"/>
          </a:xfrm>
          <a:custGeom>
            <a:avLst/>
            <a:gdLst/>
            <a:ahLst/>
            <a:cxnLst/>
            <a:rect r="r" b="b" t="t" l="l"/>
            <a:pathLst>
              <a:path h="10287000" w="9810750">
                <a:moveTo>
                  <a:pt x="0" y="0"/>
                </a:moveTo>
                <a:lnTo>
                  <a:pt x="9810750" y="0"/>
                </a:lnTo>
                <a:lnTo>
                  <a:pt x="981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9" t="0" r="-286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878836" y="1932"/>
            <a:ext cx="6390048" cy="10287000"/>
            <a:chOff x="0" y="0"/>
            <a:chExt cx="168297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29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2976">
                  <a:moveTo>
                    <a:pt x="0" y="0"/>
                  </a:moveTo>
                  <a:lnTo>
                    <a:pt x="1682976" y="0"/>
                  </a:lnTo>
                  <a:lnTo>
                    <a:pt x="168297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682976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-578357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200299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222070"/>
            <a:ext cx="3913004" cy="846921"/>
            <a:chOff x="0" y="0"/>
            <a:chExt cx="1030585" cy="2230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0585" cy="223057"/>
            </a:xfrm>
            <a:custGeom>
              <a:avLst/>
              <a:gdLst/>
              <a:ahLst/>
              <a:cxnLst/>
              <a:rect r="r" b="b" t="t" l="l"/>
              <a:pathLst>
                <a:path h="223057" w="1030585">
                  <a:moveTo>
                    <a:pt x="100904" y="0"/>
                  </a:moveTo>
                  <a:lnTo>
                    <a:pt x="929681" y="0"/>
                  </a:lnTo>
                  <a:cubicBezTo>
                    <a:pt x="985409" y="0"/>
                    <a:pt x="1030585" y="45176"/>
                    <a:pt x="1030585" y="100904"/>
                  </a:cubicBezTo>
                  <a:lnTo>
                    <a:pt x="1030585" y="122153"/>
                  </a:lnTo>
                  <a:cubicBezTo>
                    <a:pt x="1030585" y="177881"/>
                    <a:pt x="985409" y="223057"/>
                    <a:pt x="929681" y="223057"/>
                  </a:cubicBezTo>
                  <a:lnTo>
                    <a:pt x="100904" y="223057"/>
                  </a:lnTo>
                  <a:cubicBezTo>
                    <a:pt x="45176" y="223057"/>
                    <a:pt x="0" y="177881"/>
                    <a:pt x="0" y="122153"/>
                  </a:cubicBezTo>
                  <a:lnTo>
                    <a:pt x="0" y="100904"/>
                  </a:lnTo>
                  <a:cubicBezTo>
                    <a:pt x="0" y="45176"/>
                    <a:pt x="45176" y="0"/>
                    <a:pt x="100904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0585" cy="28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5350" y="3516514"/>
            <a:ext cx="335026" cy="3350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8917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 THE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026" y="2313859"/>
            <a:ext cx="3605652" cy="5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7"/>
              </a:lnSpc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Name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6294" y="3382022"/>
            <a:ext cx="9437767" cy="51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284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IBM HR Analytics Employee Attrition &amp; Performance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5350" y="4538482"/>
            <a:ext cx="3913004" cy="846921"/>
            <a:chOff x="0" y="0"/>
            <a:chExt cx="1030585" cy="2230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0585" cy="223057"/>
            </a:xfrm>
            <a:custGeom>
              <a:avLst/>
              <a:gdLst/>
              <a:ahLst/>
              <a:cxnLst/>
              <a:rect r="r" b="b" t="t" l="l"/>
              <a:pathLst>
                <a:path h="223057" w="1030585">
                  <a:moveTo>
                    <a:pt x="100904" y="0"/>
                  </a:moveTo>
                  <a:lnTo>
                    <a:pt x="929681" y="0"/>
                  </a:lnTo>
                  <a:cubicBezTo>
                    <a:pt x="985409" y="0"/>
                    <a:pt x="1030585" y="45176"/>
                    <a:pt x="1030585" y="100904"/>
                  </a:cubicBezTo>
                  <a:lnTo>
                    <a:pt x="1030585" y="122153"/>
                  </a:lnTo>
                  <a:cubicBezTo>
                    <a:pt x="1030585" y="177881"/>
                    <a:pt x="985409" y="223057"/>
                    <a:pt x="929681" y="223057"/>
                  </a:cubicBezTo>
                  <a:lnTo>
                    <a:pt x="100904" y="223057"/>
                  </a:lnTo>
                  <a:cubicBezTo>
                    <a:pt x="45176" y="223057"/>
                    <a:pt x="0" y="177881"/>
                    <a:pt x="0" y="122153"/>
                  </a:cubicBezTo>
                  <a:lnTo>
                    <a:pt x="0" y="100904"/>
                  </a:lnTo>
                  <a:cubicBezTo>
                    <a:pt x="0" y="45176"/>
                    <a:pt x="45176" y="0"/>
                    <a:pt x="100904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30585" cy="28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72188" y="4630272"/>
            <a:ext cx="3759328" cy="5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7"/>
              </a:lnSpc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Source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5350" y="5881846"/>
            <a:ext cx="335026" cy="33502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36294" y="5494941"/>
            <a:ext cx="9263765" cy="102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2845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4" tooltip="https://www.kaggle.com/datasets/pavansubhasht/ibm-hr-analytics-attrition-dataset"/>
              </a:rPr>
              <a:t>https://www.kaggle.com/datasets/pavansubhasht/ibm-hr-analytics-attrition-dataset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5350" y="7013352"/>
            <a:ext cx="3913004" cy="846921"/>
            <a:chOff x="0" y="0"/>
            <a:chExt cx="1030585" cy="2230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0585" cy="223057"/>
            </a:xfrm>
            <a:custGeom>
              <a:avLst/>
              <a:gdLst/>
              <a:ahLst/>
              <a:cxnLst/>
              <a:rect r="r" b="b" t="t" l="l"/>
              <a:pathLst>
                <a:path h="223057" w="1030585">
                  <a:moveTo>
                    <a:pt x="100904" y="0"/>
                  </a:moveTo>
                  <a:lnTo>
                    <a:pt x="929681" y="0"/>
                  </a:lnTo>
                  <a:cubicBezTo>
                    <a:pt x="985409" y="0"/>
                    <a:pt x="1030585" y="45176"/>
                    <a:pt x="1030585" y="100904"/>
                  </a:cubicBezTo>
                  <a:lnTo>
                    <a:pt x="1030585" y="122153"/>
                  </a:lnTo>
                  <a:cubicBezTo>
                    <a:pt x="1030585" y="177881"/>
                    <a:pt x="985409" y="223057"/>
                    <a:pt x="929681" y="223057"/>
                  </a:cubicBezTo>
                  <a:lnTo>
                    <a:pt x="100904" y="223057"/>
                  </a:lnTo>
                  <a:cubicBezTo>
                    <a:pt x="45176" y="223057"/>
                    <a:pt x="0" y="177881"/>
                    <a:pt x="0" y="122153"/>
                  </a:cubicBezTo>
                  <a:lnTo>
                    <a:pt x="0" y="100904"/>
                  </a:lnTo>
                  <a:cubicBezTo>
                    <a:pt x="0" y="45176"/>
                    <a:pt x="45176" y="0"/>
                    <a:pt x="100904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30585" cy="28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72188" y="7105141"/>
            <a:ext cx="3759328" cy="5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7"/>
              </a:lnSpc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Format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95350" y="8247178"/>
            <a:ext cx="335026" cy="33502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36294" y="8112686"/>
            <a:ext cx="2055135" cy="51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284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CSV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32077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36619" y="1932"/>
            <a:ext cx="9810750" cy="10287000"/>
          </a:xfrm>
          <a:custGeom>
            <a:avLst/>
            <a:gdLst/>
            <a:ahLst/>
            <a:cxnLst/>
            <a:rect r="r" b="b" t="t" l="l"/>
            <a:pathLst>
              <a:path h="10287000" w="9810750">
                <a:moveTo>
                  <a:pt x="0" y="0"/>
                </a:moveTo>
                <a:lnTo>
                  <a:pt x="9810750" y="0"/>
                </a:lnTo>
                <a:lnTo>
                  <a:pt x="981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9" t="0" r="-286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878836" y="1932"/>
            <a:ext cx="6390048" cy="10287000"/>
            <a:chOff x="0" y="0"/>
            <a:chExt cx="168297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29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2976">
                  <a:moveTo>
                    <a:pt x="0" y="0"/>
                  </a:moveTo>
                  <a:lnTo>
                    <a:pt x="1682976" y="0"/>
                  </a:lnTo>
                  <a:lnTo>
                    <a:pt x="168297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682976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405694" y="-27506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200299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8917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 THE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2077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522822"/>
            <a:ext cx="3797984" cy="2235427"/>
            <a:chOff x="0" y="0"/>
            <a:chExt cx="918897" cy="5408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8897" cy="540847"/>
            </a:xfrm>
            <a:custGeom>
              <a:avLst/>
              <a:gdLst/>
              <a:ahLst/>
              <a:cxnLst/>
              <a:rect r="r" b="b" t="t" l="l"/>
              <a:pathLst>
                <a:path h="540847" w="918897">
                  <a:moveTo>
                    <a:pt x="61153" y="0"/>
                  </a:moveTo>
                  <a:lnTo>
                    <a:pt x="857744" y="0"/>
                  </a:lnTo>
                  <a:cubicBezTo>
                    <a:pt x="873963" y="0"/>
                    <a:pt x="889517" y="6443"/>
                    <a:pt x="900986" y="17911"/>
                  </a:cubicBezTo>
                  <a:cubicBezTo>
                    <a:pt x="912454" y="29380"/>
                    <a:pt x="918897" y="44934"/>
                    <a:pt x="918897" y="61153"/>
                  </a:cubicBezTo>
                  <a:lnTo>
                    <a:pt x="918897" y="479694"/>
                  </a:lnTo>
                  <a:cubicBezTo>
                    <a:pt x="918897" y="495913"/>
                    <a:pt x="912454" y="511467"/>
                    <a:pt x="900986" y="522935"/>
                  </a:cubicBezTo>
                  <a:cubicBezTo>
                    <a:pt x="889517" y="534404"/>
                    <a:pt x="873963" y="540847"/>
                    <a:pt x="857744" y="540847"/>
                  </a:cubicBezTo>
                  <a:lnTo>
                    <a:pt x="61153" y="540847"/>
                  </a:lnTo>
                  <a:cubicBezTo>
                    <a:pt x="44934" y="540847"/>
                    <a:pt x="29380" y="534404"/>
                    <a:pt x="17911" y="522935"/>
                  </a:cubicBezTo>
                  <a:cubicBezTo>
                    <a:pt x="6443" y="511467"/>
                    <a:pt x="0" y="495913"/>
                    <a:pt x="0" y="479694"/>
                  </a:cubicBezTo>
                  <a:lnTo>
                    <a:pt x="0" y="61153"/>
                  </a:lnTo>
                  <a:cubicBezTo>
                    <a:pt x="0" y="44934"/>
                    <a:pt x="6443" y="29380"/>
                    <a:pt x="17911" y="17911"/>
                  </a:cubicBezTo>
                  <a:cubicBezTo>
                    <a:pt x="29380" y="6443"/>
                    <a:pt x="44934" y="0"/>
                    <a:pt x="61153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8897" cy="597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46016" y="2522822"/>
            <a:ext cx="3797984" cy="2235427"/>
            <a:chOff x="0" y="0"/>
            <a:chExt cx="918897" cy="5408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8897" cy="540847"/>
            </a:xfrm>
            <a:custGeom>
              <a:avLst/>
              <a:gdLst/>
              <a:ahLst/>
              <a:cxnLst/>
              <a:rect r="r" b="b" t="t" l="l"/>
              <a:pathLst>
                <a:path h="540847" w="918897">
                  <a:moveTo>
                    <a:pt x="61153" y="0"/>
                  </a:moveTo>
                  <a:lnTo>
                    <a:pt x="857744" y="0"/>
                  </a:lnTo>
                  <a:cubicBezTo>
                    <a:pt x="873963" y="0"/>
                    <a:pt x="889517" y="6443"/>
                    <a:pt x="900986" y="17911"/>
                  </a:cubicBezTo>
                  <a:cubicBezTo>
                    <a:pt x="912454" y="29380"/>
                    <a:pt x="918897" y="44934"/>
                    <a:pt x="918897" y="61153"/>
                  </a:cubicBezTo>
                  <a:lnTo>
                    <a:pt x="918897" y="479694"/>
                  </a:lnTo>
                  <a:cubicBezTo>
                    <a:pt x="918897" y="495913"/>
                    <a:pt x="912454" y="511467"/>
                    <a:pt x="900986" y="522935"/>
                  </a:cubicBezTo>
                  <a:cubicBezTo>
                    <a:pt x="889517" y="534404"/>
                    <a:pt x="873963" y="540847"/>
                    <a:pt x="857744" y="540847"/>
                  </a:cubicBezTo>
                  <a:lnTo>
                    <a:pt x="61153" y="540847"/>
                  </a:lnTo>
                  <a:cubicBezTo>
                    <a:pt x="44934" y="540847"/>
                    <a:pt x="29380" y="534404"/>
                    <a:pt x="17911" y="522935"/>
                  </a:cubicBezTo>
                  <a:cubicBezTo>
                    <a:pt x="6443" y="511467"/>
                    <a:pt x="0" y="495913"/>
                    <a:pt x="0" y="479694"/>
                  </a:cubicBezTo>
                  <a:lnTo>
                    <a:pt x="0" y="61153"/>
                  </a:lnTo>
                  <a:cubicBezTo>
                    <a:pt x="0" y="44934"/>
                    <a:pt x="6443" y="29380"/>
                    <a:pt x="17911" y="17911"/>
                  </a:cubicBezTo>
                  <a:cubicBezTo>
                    <a:pt x="29380" y="6443"/>
                    <a:pt x="44934" y="0"/>
                    <a:pt x="61153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18897" cy="597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67875" y="2522822"/>
            <a:ext cx="3797984" cy="2235427"/>
            <a:chOff x="0" y="0"/>
            <a:chExt cx="918897" cy="5408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8897" cy="540847"/>
            </a:xfrm>
            <a:custGeom>
              <a:avLst/>
              <a:gdLst/>
              <a:ahLst/>
              <a:cxnLst/>
              <a:rect r="r" b="b" t="t" l="l"/>
              <a:pathLst>
                <a:path h="540847" w="918897">
                  <a:moveTo>
                    <a:pt x="61153" y="0"/>
                  </a:moveTo>
                  <a:lnTo>
                    <a:pt x="857744" y="0"/>
                  </a:lnTo>
                  <a:cubicBezTo>
                    <a:pt x="873963" y="0"/>
                    <a:pt x="889517" y="6443"/>
                    <a:pt x="900986" y="17911"/>
                  </a:cubicBezTo>
                  <a:cubicBezTo>
                    <a:pt x="912454" y="29380"/>
                    <a:pt x="918897" y="44934"/>
                    <a:pt x="918897" y="61153"/>
                  </a:cubicBezTo>
                  <a:lnTo>
                    <a:pt x="918897" y="479694"/>
                  </a:lnTo>
                  <a:cubicBezTo>
                    <a:pt x="918897" y="495913"/>
                    <a:pt x="912454" y="511467"/>
                    <a:pt x="900986" y="522935"/>
                  </a:cubicBezTo>
                  <a:cubicBezTo>
                    <a:pt x="889517" y="534404"/>
                    <a:pt x="873963" y="540847"/>
                    <a:pt x="857744" y="540847"/>
                  </a:cubicBezTo>
                  <a:lnTo>
                    <a:pt x="61153" y="540847"/>
                  </a:lnTo>
                  <a:cubicBezTo>
                    <a:pt x="44934" y="540847"/>
                    <a:pt x="29380" y="534404"/>
                    <a:pt x="17911" y="522935"/>
                  </a:cubicBezTo>
                  <a:cubicBezTo>
                    <a:pt x="6443" y="511467"/>
                    <a:pt x="0" y="495913"/>
                    <a:pt x="0" y="479694"/>
                  </a:cubicBezTo>
                  <a:lnTo>
                    <a:pt x="0" y="61153"/>
                  </a:lnTo>
                  <a:cubicBezTo>
                    <a:pt x="0" y="44934"/>
                    <a:pt x="6443" y="29380"/>
                    <a:pt x="17911" y="17911"/>
                  </a:cubicBezTo>
                  <a:cubicBezTo>
                    <a:pt x="29380" y="6443"/>
                    <a:pt x="44934" y="0"/>
                    <a:pt x="61153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18897" cy="597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60917" y="2541935"/>
            <a:ext cx="3333550" cy="159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1471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3652" y="4042452"/>
            <a:ext cx="3628079" cy="62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4"/>
              </a:lnSpc>
            </a:pPr>
            <a:r>
              <a:rPr lang="en-US" sz="348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Employee Records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80504" y="2541935"/>
            <a:ext cx="3333550" cy="159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35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46016" y="4042452"/>
            <a:ext cx="3860295" cy="62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8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Columns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5832503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5174007"/>
            <a:ext cx="6903621" cy="54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CORE METRICS / COLUMNS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89978" y="1265070"/>
            <a:ext cx="4632667" cy="4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(DATASET AT A GLANCE)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4478" y="5984903"/>
            <a:ext cx="5511628" cy="1270577"/>
            <a:chOff x="0" y="0"/>
            <a:chExt cx="1333502" cy="307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3502" cy="307408"/>
            </a:xfrm>
            <a:custGeom>
              <a:avLst/>
              <a:gdLst/>
              <a:ahLst/>
              <a:cxnLst/>
              <a:rect r="r" b="b" t="t" l="l"/>
              <a:pathLst>
                <a:path h="307408" w="1333502">
                  <a:moveTo>
                    <a:pt x="42140" y="0"/>
                  </a:moveTo>
                  <a:lnTo>
                    <a:pt x="1291362" y="0"/>
                  </a:lnTo>
                  <a:cubicBezTo>
                    <a:pt x="1314635" y="0"/>
                    <a:pt x="1333502" y="18867"/>
                    <a:pt x="1333502" y="42140"/>
                  </a:cubicBezTo>
                  <a:lnTo>
                    <a:pt x="1333502" y="265268"/>
                  </a:lnTo>
                  <a:cubicBezTo>
                    <a:pt x="1333502" y="288541"/>
                    <a:pt x="1314635" y="307408"/>
                    <a:pt x="1291362" y="307408"/>
                  </a:cubicBezTo>
                  <a:lnTo>
                    <a:pt x="42140" y="307408"/>
                  </a:lnTo>
                  <a:cubicBezTo>
                    <a:pt x="18867" y="307408"/>
                    <a:pt x="0" y="288541"/>
                    <a:pt x="0" y="265268"/>
                  </a:cubicBezTo>
                  <a:lnTo>
                    <a:pt x="0" y="42140"/>
                  </a:lnTo>
                  <a:cubicBezTo>
                    <a:pt x="0" y="18867"/>
                    <a:pt x="18867" y="0"/>
                    <a:pt x="42140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333502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6695" y="6186350"/>
            <a:ext cx="1951703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D2B99A"/>
                </a:solidFill>
                <a:latin typeface="Boston Angel"/>
                <a:ea typeface="Boston Angel"/>
                <a:cs typeface="Boston Angel"/>
                <a:sym typeface="Boston Angel"/>
              </a:rPr>
              <a:t>Attrition</a:t>
            </a:r>
          </a:p>
        </p:txBody>
      </p:sp>
      <p:sp>
        <p:nvSpPr>
          <p:cNvPr name="AutoShape 30" id="30"/>
          <p:cNvSpPr/>
          <p:nvPr/>
        </p:nvSpPr>
        <p:spPr>
          <a:xfrm flipH="true">
            <a:off x="3187448" y="6290172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3192632" y="6176168"/>
            <a:ext cx="1902629" cy="9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561" indent="-373780" lvl="1">
              <a:lnSpc>
                <a:spcPts val="3462"/>
              </a:lnSpc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YES</a:t>
            </a:r>
          </a:p>
          <a:p>
            <a:pPr algn="l" marL="747561" indent="-373780" lvl="1">
              <a:lnSpc>
                <a:spcPts val="3462"/>
              </a:lnSpc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4478" y="7350730"/>
            <a:ext cx="5511628" cy="1270577"/>
            <a:chOff x="0" y="0"/>
            <a:chExt cx="1333502" cy="3074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33502" cy="307408"/>
            </a:xfrm>
            <a:custGeom>
              <a:avLst/>
              <a:gdLst/>
              <a:ahLst/>
              <a:cxnLst/>
              <a:rect r="r" b="b" t="t" l="l"/>
              <a:pathLst>
                <a:path h="307408" w="1333502">
                  <a:moveTo>
                    <a:pt x="42140" y="0"/>
                  </a:moveTo>
                  <a:lnTo>
                    <a:pt x="1291362" y="0"/>
                  </a:lnTo>
                  <a:cubicBezTo>
                    <a:pt x="1314635" y="0"/>
                    <a:pt x="1333502" y="18867"/>
                    <a:pt x="1333502" y="42140"/>
                  </a:cubicBezTo>
                  <a:lnTo>
                    <a:pt x="1333502" y="265268"/>
                  </a:lnTo>
                  <a:cubicBezTo>
                    <a:pt x="1333502" y="288541"/>
                    <a:pt x="1314635" y="307408"/>
                    <a:pt x="1291362" y="307408"/>
                  </a:cubicBezTo>
                  <a:lnTo>
                    <a:pt x="42140" y="307408"/>
                  </a:lnTo>
                  <a:cubicBezTo>
                    <a:pt x="18867" y="307408"/>
                    <a:pt x="0" y="288541"/>
                    <a:pt x="0" y="265268"/>
                  </a:cubicBezTo>
                  <a:lnTo>
                    <a:pt x="0" y="42140"/>
                  </a:lnTo>
                  <a:cubicBezTo>
                    <a:pt x="0" y="18867"/>
                    <a:pt x="18867" y="0"/>
                    <a:pt x="42140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33502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13652" y="7504010"/>
            <a:ext cx="1964873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D2B99A"/>
                </a:solidFill>
                <a:latin typeface="Boston Angel"/>
                <a:ea typeface="Boston Angel"/>
                <a:cs typeface="Boston Angel"/>
                <a:sym typeface="Boston Angel"/>
              </a:rPr>
              <a:t>Depart.</a:t>
            </a:r>
          </a:p>
        </p:txBody>
      </p:sp>
      <p:sp>
        <p:nvSpPr>
          <p:cNvPr name="AutoShape 36" id="36"/>
          <p:cNvSpPr/>
          <p:nvPr/>
        </p:nvSpPr>
        <p:spPr>
          <a:xfrm flipH="true">
            <a:off x="3187448" y="7655999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3192632" y="7641465"/>
            <a:ext cx="3117359" cy="65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950" indent="-179475" lvl="1">
              <a:lnSpc>
                <a:spcPts val="1662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SALES</a:t>
            </a:r>
          </a:p>
          <a:p>
            <a:pPr algn="l" marL="358950" indent="-179475" lvl="1">
              <a:lnSpc>
                <a:spcPts val="1662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HUMAN RECOURCES</a:t>
            </a:r>
          </a:p>
          <a:p>
            <a:pPr algn="l" marL="358950" indent="-179475" lvl="1">
              <a:lnSpc>
                <a:spcPts val="1662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RESEARCH &amp; DEVELOPMENT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84478" y="8716557"/>
            <a:ext cx="5511628" cy="1270577"/>
            <a:chOff x="0" y="0"/>
            <a:chExt cx="1333502" cy="3074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33502" cy="307408"/>
            </a:xfrm>
            <a:custGeom>
              <a:avLst/>
              <a:gdLst/>
              <a:ahLst/>
              <a:cxnLst/>
              <a:rect r="r" b="b" t="t" l="l"/>
              <a:pathLst>
                <a:path h="307408" w="1333502">
                  <a:moveTo>
                    <a:pt x="42140" y="0"/>
                  </a:moveTo>
                  <a:lnTo>
                    <a:pt x="1291362" y="0"/>
                  </a:lnTo>
                  <a:cubicBezTo>
                    <a:pt x="1314635" y="0"/>
                    <a:pt x="1333502" y="18867"/>
                    <a:pt x="1333502" y="42140"/>
                  </a:cubicBezTo>
                  <a:lnTo>
                    <a:pt x="1333502" y="265268"/>
                  </a:lnTo>
                  <a:cubicBezTo>
                    <a:pt x="1333502" y="288541"/>
                    <a:pt x="1314635" y="307408"/>
                    <a:pt x="1291362" y="307408"/>
                  </a:cubicBezTo>
                  <a:lnTo>
                    <a:pt x="42140" y="307408"/>
                  </a:lnTo>
                  <a:cubicBezTo>
                    <a:pt x="18867" y="307408"/>
                    <a:pt x="0" y="288541"/>
                    <a:pt x="0" y="265268"/>
                  </a:cubicBezTo>
                  <a:lnTo>
                    <a:pt x="0" y="42140"/>
                  </a:lnTo>
                  <a:cubicBezTo>
                    <a:pt x="0" y="18867"/>
                    <a:pt x="18867" y="0"/>
                    <a:pt x="42140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333502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03993" y="8627411"/>
            <a:ext cx="1623699" cy="128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77"/>
              </a:lnSpc>
            </a:pPr>
            <a:r>
              <a:rPr lang="en-US" sz="3627">
                <a:solidFill>
                  <a:srgbClr val="D2B99A"/>
                </a:solidFill>
                <a:latin typeface="Boston Angel"/>
                <a:ea typeface="Boston Angel"/>
                <a:cs typeface="Boston Angel"/>
                <a:sym typeface="Boston Angel"/>
              </a:rPr>
              <a:t>Marital</a:t>
            </a:r>
          </a:p>
          <a:p>
            <a:pPr algn="just">
              <a:lnSpc>
                <a:spcPts val="5077"/>
              </a:lnSpc>
            </a:pPr>
            <a:r>
              <a:rPr lang="en-US" sz="3627">
                <a:solidFill>
                  <a:srgbClr val="D2B99A"/>
                </a:solidFill>
                <a:latin typeface="Boston Angel"/>
                <a:ea typeface="Boston Angel"/>
                <a:cs typeface="Boston Angel"/>
                <a:sym typeface="Boston Angel"/>
              </a:rPr>
              <a:t>Statues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92632" y="8869815"/>
            <a:ext cx="1994968" cy="92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SINGLE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MARRIED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DIVORCED</a:t>
            </a:r>
          </a:p>
        </p:txBody>
      </p:sp>
      <p:sp>
        <p:nvSpPr>
          <p:cNvPr name="AutoShape 43" id="43"/>
          <p:cNvSpPr/>
          <p:nvPr/>
        </p:nvSpPr>
        <p:spPr>
          <a:xfrm flipH="true">
            <a:off x="3149348" y="9136560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6696131" y="5984903"/>
            <a:ext cx="4826514" cy="4002231"/>
            <a:chOff x="0" y="0"/>
            <a:chExt cx="1167743" cy="96831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67743" cy="968313"/>
            </a:xfrm>
            <a:custGeom>
              <a:avLst/>
              <a:gdLst/>
              <a:ahLst/>
              <a:cxnLst/>
              <a:rect r="r" b="b" t="t" l="l"/>
              <a:pathLst>
                <a:path h="968313" w="1167743">
                  <a:moveTo>
                    <a:pt x="48121" y="0"/>
                  </a:moveTo>
                  <a:lnTo>
                    <a:pt x="1119622" y="0"/>
                  </a:lnTo>
                  <a:cubicBezTo>
                    <a:pt x="1146198" y="0"/>
                    <a:pt x="1167743" y="21545"/>
                    <a:pt x="1167743" y="48121"/>
                  </a:cubicBezTo>
                  <a:lnTo>
                    <a:pt x="1167743" y="920192"/>
                  </a:lnTo>
                  <a:cubicBezTo>
                    <a:pt x="1167743" y="946768"/>
                    <a:pt x="1146198" y="968313"/>
                    <a:pt x="1119622" y="968313"/>
                  </a:cubicBezTo>
                  <a:lnTo>
                    <a:pt x="48121" y="968313"/>
                  </a:lnTo>
                  <a:cubicBezTo>
                    <a:pt x="21545" y="968313"/>
                    <a:pt x="0" y="946768"/>
                    <a:pt x="0" y="920192"/>
                  </a:cubicBezTo>
                  <a:lnTo>
                    <a:pt x="0" y="48121"/>
                  </a:lnTo>
                  <a:cubicBezTo>
                    <a:pt x="0" y="21545"/>
                    <a:pt x="21545" y="0"/>
                    <a:pt x="48121" y="0"/>
                  </a:cubicBezTo>
                  <a:close/>
                </a:path>
              </a:pathLst>
            </a:custGeom>
            <a:solidFill>
              <a:srgbClr val="FFFFFF">
                <a:alpha val="36863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167743" cy="102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740353" y="5984903"/>
            <a:ext cx="1951703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D2B99A"/>
                </a:solidFill>
                <a:latin typeface="Boston Angel"/>
                <a:ea typeface="Boston Angel"/>
                <a:cs typeface="Boston Angel"/>
                <a:sym typeface="Boston Angel"/>
              </a:rPr>
              <a:t>Job Role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740353" y="6969261"/>
            <a:ext cx="4466619" cy="269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HEALTHCARE REPRESENT.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HUMAN RESOURCES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LABORATORY TECHNICIAN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MANAGER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MANUFACTURING DIRECTOR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RESEARCH DIRECTOR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RESEARCH SCIENTIST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SALES EXECUTIVE</a:t>
            </a:r>
          </a:p>
          <a:p>
            <a:pPr algn="l" marL="510077" indent="-255038" lvl="1">
              <a:lnSpc>
                <a:spcPts val="2362"/>
              </a:lnSpc>
              <a:buFont typeface="Arial"/>
              <a:buChar char="•"/>
            </a:pPr>
            <a:r>
              <a:rPr lang="en-US" sz="23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SALES REPRESENTATIVE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747672" y="6004906"/>
            <a:ext cx="6177729" cy="1270577"/>
            <a:chOff x="0" y="0"/>
            <a:chExt cx="1494660" cy="3074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94660" cy="307408"/>
            </a:xfrm>
            <a:custGeom>
              <a:avLst/>
              <a:gdLst/>
              <a:ahLst/>
              <a:cxnLst/>
              <a:rect r="r" b="b" t="t" l="l"/>
              <a:pathLst>
                <a:path h="307408" w="1494660">
                  <a:moveTo>
                    <a:pt x="37596" y="0"/>
                  </a:moveTo>
                  <a:lnTo>
                    <a:pt x="1457064" y="0"/>
                  </a:lnTo>
                  <a:cubicBezTo>
                    <a:pt x="1467035" y="0"/>
                    <a:pt x="1476598" y="3961"/>
                    <a:pt x="1483649" y="11012"/>
                  </a:cubicBezTo>
                  <a:cubicBezTo>
                    <a:pt x="1490699" y="18062"/>
                    <a:pt x="1494660" y="27625"/>
                    <a:pt x="1494660" y="37596"/>
                  </a:cubicBezTo>
                  <a:lnTo>
                    <a:pt x="1494660" y="269812"/>
                  </a:lnTo>
                  <a:cubicBezTo>
                    <a:pt x="1494660" y="279783"/>
                    <a:pt x="1490699" y="289345"/>
                    <a:pt x="1483649" y="296396"/>
                  </a:cubicBezTo>
                  <a:cubicBezTo>
                    <a:pt x="1476598" y="303447"/>
                    <a:pt x="1467035" y="307408"/>
                    <a:pt x="1457064" y="307408"/>
                  </a:cubicBezTo>
                  <a:lnTo>
                    <a:pt x="37596" y="307408"/>
                  </a:lnTo>
                  <a:cubicBezTo>
                    <a:pt x="27625" y="307408"/>
                    <a:pt x="18062" y="303447"/>
                    <a:pt x="11012" y="296396"/>
                  </a:cubicBezTo>
                  <a:cubicBezTo>
                    <a:pt x="3961" y="289345"/>
                    <a:pt x="0" y="279783"/>
                    <a:pt x="0" y="269812"/>
                  </a:cubicBezTo>
                  <a:lnTo>
                    <a:pt x="0" y="37596"/>
                  </a:lnTo>
                  <a:cubicBezTo>
                    <a:pt x="0" y="27625"/>
                    <a:pt x="3961" y="18062"/>
                    <a:pt x="11012" y="11012"/>
                  </a:cubicBezTo>
                  <a:cubicBezTo>
                    <a:pt x="18062" y="3961"/>
                    <a:pt x="27625" y="0"/>
                    <a:pt x="37596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494660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770295" y="6166347"/>
            <a:ext cx="3686296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FFCA89"/>
                </a:solidFill>
                <a:latin typeface="Boston Angel"/>
                <a:ea typeface="Boston Angel"/>
                <a:cs typeface="Boston Angel"/>
                <a:sym typeface="Boston Angel"/>
              </a:rPr>
              <a:t>EmployeeCount</a:t>
            </a:r>
          </a:p>
        </p:txBody>
      </p:sp>
      <p:sp>
        <p:nvSpPr>
          <p:cNvPr name="AutoShape 53" id="53"/>
          <p:cNvSpPr/>
          <p:nvPr/>
        </p:nvSpPr>
        <p:spPr>
          <a:xfrm>
            <a:off x="15475641" y="6310175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15188808" y="6462213"/>
            <a:ext cx="2406220" cy="48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561" indent="-373780" lvl="1">
              <a:lnSpc>
                <a:spcPts val="3462"/>
              </a:lnSpc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 ONLY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770295" y="7350730"/>
            <a:ext cx="6155106" cy="1270577"/>
            <a:chOff x="0" y="0"/>
            <a:chExt cx="1489187" cy="3074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89187" cy="307408"/>
            </a:xfrm>
            <a:custGeom>
              <a:avLst/>
              <a:gdLst/>
              <a:ahLst/>
              <a:cxnLst/>
              <a:rect r="r" b="b" t="t" l="l"/>
              <a:pathLst>
                <a:path h="307408" w="1489187">
                  <a:moveTo>
                    <a:pt x="37734" y="0"/>
                  </a:moveTo>
                  <a:lnTo>
                    <a:pt x="1451453" y="0"/>
                  </a:lnTo>
                  <a:cubicBezTo>
                    <a:pt x="1461460" y="0"/>
                    <a:pt x="1471058" y="3976"/>
                    <a:pt x="1478135" y="11052"/>
                  </a:cubicBezTo>
                  <a:cubicBezTo>
                    <a:pt x="1485211" y="18129"/>
                    <a:pt x="1489187" y="27726"/>
                    <a:pt x="1489187" y="37734"/>
                  </a:cubicBezTo>
                  <a:lnTo>
                    <a:pt x="1489187" y="269673"/>
                  </a:lnTo>
                  <a:cubicBezTo>
                    <a:pt x="1489187" y="279681"/>
                    <a:pt x="1485211" y="289279"/>
                    <a:pt x="1478135" y="296356"/>
                  </a:cubicBezTo>
                  <a:cubicBezTo>
                    <a:pt x="1471058" y="303432"/>
                    <a:pt x="1461460" y="307408"/>
                    <a:pt x="1451453" y="307408"/>
                  </a:cubicBezTo>
                  <a:lnTo>
                    <a:pt x="37734" y="307408"/>
                  </a:lnTo>
                  <a:cubicBezTo>
                    <a:pt x="27726" y="307408"/>
                    <a:pt x="18129" y="303432"/>
                    <a:pt x="11052" y="296356"/>
                  </a:cubicBezTo>
                  <a:cubicBezTo>
                    <a:pt x="3976" y="289279"/>
                    <a:pt x="0" y="279681"/>
                    <a:pt x="0" y="269673"/>
                  </a:cubicBezTo>
                  <a:lnTo>
                    <a:pt x="0" y="37734"/>
                  </a:lnTo>
                  <a:cubicBezTo>
                    <a:pt x="0" y="27726"/>
                    <a:pt x="3976" y="18129"/>
                    <a:pt x="11052" y="11052"/>
                  </a:cubicBezTo>
                  <a:cubicBezTo>
                    <a:pt x="18129" y="3976"/>
                    <a:pt x="27726" y="0"/>
                    <a:pt x="37734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489187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1792918" y="7512172"/>
            <a:ext cx="3686296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FFCA89"/>
                </a:solidFill>
                <a:latin typeface="Boston Angel"/>
                <a:ea typeface="Boston Angel"/>
                <a:cs typeface="Boston Angel"/>
                <a:sym typeface="Boston Angel"/>
              </a:rPr>
              <a:t>Over 18</a:t>
            </a:r>
          </a:p>
        </p:txBody>
      </p:sp>
      <p:sp>
        <p:nvSpPr>
          <p:cNvPr name="AutoShape 59" id="59"/>
          <p:cNvSpPr/>
          <p:nvPr/>
        </p:nvSpPr>
        <p:spPr>
          <a:xfrm>
            <a:off x="15498264" y="7655999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5211431" y="7808037"/>
            <a:ext cx="2406220" cy="48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561" indent="-373780" lvl="1">
              <a:lnSpc>
                <a:spcPts val="3462"/>
              </a:lnSpc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Y ONLY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792918" y="8688393"/>
            <a:ext cx="6165814" cy="1270577"/>
            <a:chOff x="0" y="0"/>
            <a:chExt cx="1491778" cy="3074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91778" cy="307408"/>
            </a:xfrm>
            <a:custGeom>
              <a:avLst/>
              <a:gdLst/>
              <a:ahLst/>
              <a:cxnLst/>
              <a:rect r="r" b="b" t="t" l="l"/>
              <a:pathLst>
                <a:path h="307408" w="1491778">
                  <a:moveTo>
                    <a:pt x="37669" y="0"/>
                  </a:moveTo>
                  <a:lnTo>
                    <a:pt x="1454109" y="0"/>
                  </a:lnTo>
                  <a:cubicBezTo>
                    <a:pt x="1474913" y="0"/>
                    <a:pt x="1491778" y="16865"/>
                    <a:pt x="1491778" y="37669"/>
                  </a:cubicBezTo>
                  <a:lnTo>
                    <a:pt x="1491778" y="269739"/>
                  </a:lnTo>
                  <a:cubicBezTo>
                    <a:pt x="1491778" y="290543"/>
                    <a:pt x="1474913" y="307408"/>
                    <a:pt x="1454109" y="307408"/>
                  </a:cubicBezTo>
                  <a:lnTo>
                    <a:pt x="37669" y="307408"/>
                  </a:lnTo>
                  <a:cubicBezTo>
                    <a:pt x="16865" y="307408"/>
                    <a:pt x="0" y="290543"/>
                    <a:pt x="0" y="269739"/>
                  </a:cubicBezTo>
                  <a:lnTo>
                    <a:pt x="0" y="37669"/>
                  </a:lnTo>
                  <a:cubicBezTo>
                    <a:pt x="0" y="16865"/>
                    <a:pt x="16865" y="0"/>
                    <a:pt x="37669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491778" cy="36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815541" y="8849835"/>
            <a:ext cx="3686296" cy="7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4389">
                <a:solidFill>
                  <a:srgbClr val="FFCA89"/>
                </a:solidFill>
                <a:latin typeface="Boston Angel"/>
                <a:ea typeface="Boston Angel"/>
                <a:cs typeface="Boston Angel"/>
                <a:sym typeface="Boston Angel"/>
              </a:rPr>
              <a:t>StandardHours</a:t>
            </a:r>
          </a:p>
        </p:txBody>
      </p:sp>
      <p:sp>
        <p:nvSpPr>
          <p:cNvPr name="AutoShape 65" id="65"/>
          <p:cNvSpPr/>
          <p:nvPr/>
        </p:nvSpPr>
        <p:spPr>
          <a:xfrm>
            <a:off x="15520887" y="8993662"/>
            <a:ext cx="0" cy="66003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5188808" y="9145700"/>
            <a:ext cx="2769925" cy="48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561" indent="-373780" lvl="1">
              <a:lnSpc>
                <a:spcPts val="3462"/>
              </a:lnSpc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80 ONLY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55870" y="2541935"/>
            <a:ext cx="3333550" cy="159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92497" y="4042756"/>
            <a:ext cx="3860295" cy="62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89">
                <a:solidFill>
                  <a:srgbClr val="FFFFFF"/>
                </a:solidFill>
                <a:latin typeface="Boston Angel"/>
                <a:ea typeface="Boston Angel"/>
                <a:cs typeface="Boston Angel"/>
                <a:sym typeface="Boston Angel"/>
              </a:rPr>
              <a:t>One Value Columns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36619" y="1932"/>
            <a:ext cx="9810750" cy="10287000"/>
          </a:xfrm>
          <a:custGeom>
            <a:avLst/>
            <a:gdLst/>
            <a:ahLst/>
            <a:cxnLst/>
            <a:rect r="r" b="b" t="t" l="l"/>
            <a:pathLst>
              <a:path h="10287000" w="9810750">
                <a:moveTo>
                  <a:pt x="0" y="0"/>
                </a:moveTo>
                <a:lnTo>
                  <a:pt x="9810750" y="0"/>
                </a:lnTo>
                <a:lnTo>
                  <a:pt x="981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9" t="0" r="-286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878836" y="1932"/>
            <a:ext cx="6390048" cy="10287000"/>
            <a:chOff x="0" y="0"/>
            <a:chExt cx="168297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29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2976">
                  <a:moveTo>
                    <a:pt x="0" y="0"/>
                  </a:moveTo>
                  <a:lnTo>
                    <a:pt x="1682976" y="0"/>
                  </a:lnTo>
                  <a:lnTo>
                    <a:pt x="168297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682976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405694" y="-27506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200299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979" y="2285313"/>
            <a:ext cx="4399900" cy="6972987"/>
            <a:chOff x="0" y="0"/>
            <a:chExt cx="1064526" cy="1687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4526" cy="1687068"/>
            </a:xfrm>
            <a:custGeom>
              <a:avLst/>
              <a:gdLst/>
              <a:ahLst/>
              <a:cxnLst/>
              <a:rect r="r" b="b" t="t" l="l"/>
              <a:pathLst>
                <a:path h="1687068" w="1064526">
                  <a:moveTo>
                    <a:pt x="52787" y="0"/>
                  </a:moveTo>
                  <a:lnTo>
                    <a:pt x="1011739" y="0"/>
                  </a:lnTo>
                  <a:cubicBezTo>
                    <a:pt x="1040893" y="0"/>
                    <a:pt x="1064526" y="23634"/>
                    <a:pt x="1064526" y="52787"/>
                  </a:cubicBezTo>
                  <a:lnTo>
                    <a:pt x="1064526" y="1634281"/>
                  </a:lnTo>
                  <a:cubicBezTo>
                    <a:pt x="1064526" y="1663434"/>
                    <a:pt x="1040893" y="1687068"/>
                    <a:pt x="1011739" y="1687068"/>
                  </a:cubicBezTo>
                  <a:lnTo>
                    <a:pt x="52787" y="1687068"/>
                  </a:lnTo>
                  <a:cubicBezTo>
                    <a:pt x="23634" y="1687068"/>
                    <a:pt x="0" y="1663434"/>
                    <a:pt x="0" y="1634281"/>
                  </a:cubicBezTo>
                  <a:lnTo>
                    <a:pt x="0" y="52787"/>
                  </a:lnTo>
                  <a:cubicBezTo>
                    <a:pt x="0" y="23634"/>
                    <a:pt x="23634" y="0"/>
                    <a:pt x="52787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64526" cy="174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6129" y="3039288"/>
            <a:ext cx="3751599" cy="5852495"/>
          </a:xfrm>
          <a:custGeom>
            <a:avLst/>
            <a:gdLst/>
            <a:ahLst/>
            <a:cxnLst/>
            <a:rect r="r" b="b" t="t" l="l"/>
            <a:pathLst>
              <a:path h="5852495" w="3751599">
                <a:moveTo>
                  <a:pt x="0" y="0"/>
                </a:moveTo>
                <a:lnTo>
                  <a:pt x="3751599" y="0"/>
                </a:lnTo>
                <a:lnTo>
                  <a:pt x="3751599" y="5852494"/>
                </a:lnTo>
                <a:lnTo>
                  <a:pt x="0" y="5852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842734" y="3215095"/>
            <a:ext cx="6294714" cy="5676687"/>
            <a:chOff x="0" y="0"/>
            <a:chExt cx="1522964" cy="1373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2964" cy="1373437"/>
            </a:xfrm>
            <a:custGeom>
              <a:avLst/>
              <a:gdLst/>
              <a:ahLst/>
              <a:cxnLst/>
              <a:rect r="r" b="b" t="t" l="l"/>
              <a:pathLst>
                <a:path h="1373437" w="1522964">
                  <a:moveTo>
                    <a:pt x="36897" y="0"/>
                  </a:moveTo>
                  <a:lnTo>
                    <a:pt x="1486067" y="0"/>
                  </a:lnTo>
                  <a:cubicBezTo>
                    <a:pt x="1495853" y="0"/>
                    <a:pt x="1505238" y="3887"/>
                    <a:pt x="1512157" y="10807"/>
                  </a:cubicBezTo>
                  <a:cubicBezTo>
                    <a:pt x="1519077" y="17727"/>
                    <a:pt x="1522964" y="27111"/>
                    <a:pt x="1522964" y="36897"/>
                  </a:cubicBezTo>
                  <a:lnTo>
                    <a:pt x="1522964" y="1336539"/>
                  </a:lnTo>
                  <a:cubicBezTo>
                    <a:pt x="1522964" y="1346325"/>
                    <a:pt x="1519077" y="1355710"/>
                    <a:pt x="1512157" y="1362630"/>
                  </a:cubicBezTo>
                  <a:cubicBezTo>
                    <a:pt x="1505238" y="1369549"/>
                    <a:pt x="1495853" y="1373437"/>
                    <a:pt x="1486067" y="1373437"/>
                  </a:cubicBezTo>
                  <a:lnTo>
                    <a:pt x="36897" y="1373437"/>
                  </a:lnTo>
                  <a:cubicBezTo>
                    <a:pt x="27111" y="1373437"/>
                    <a:pt x="17727" y="1369549"/>
                    <a:pt x="10807" y="1362630"/>
                  </a:cubicBezTo>
                  <a:cubicBezTo>
                    <a:pt x="3887" y="1355710"/>
                    <a:pt x="0" y="1346325"/>
                    <a:pt x="0" y="1336539"/>
                  </a:cubicBezTo>
                  <a:lnTo>
                    <a:pt x="0" y="36897"/>
                  </a:lnTo>
                  <a:cubicBezTo>
                    <a:pt x="0" y="27111"/>
                    <a:pt x="3887" y="17727"/>
                    <a:pt x="10807" y="10807"/>
                  </a:cubicBezTo>
                  <a:cubicBezTo>
                    <a:pt x="17727" y="3887"/>
                    <a:pt x="27111" y="0"/>
                    <a:pt x="36897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522964" cy="143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65531" y="3215095"/>
            <a:ext cx="6294714" cy="5676687"/>
            <a:chOff x="0" y="0"/>
            <a:chExt cx="1522964" cy="13734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2964" cy="1373437"/>
            </a:xfrm>
            <a:custGeom>
              <a:avLst/>
              <a:gdLst/>
              <a:ahLst/>
              <a:cxnLst/>
              <a:rect r="r" b="b" t="t" l="l"/>
              <a:pathLst>
                <a:path h="1373437" w="1522964">
                  <a:moveTo>
                    <a:pt x="36897" y="0"/>
                  </a:moveTo>
                  <a:lnTo>
                    <a:pt x="1486067" y="0"/>
                  </a:lnTo>
                  <a:cubicBezTo>
                    <a:pt x="1495853" y="0"/>
                    <a:pt x="1505238" y="3887"/>
                    <a:pt x="1512157" y="10807"/>
                  </a:cubicBezTo>
                  <a:cubicBezTo>
                    <a:pt x="1519077" y="17727"/>
                    <a:pt x="1522964" y="27111"/>
                    <a:pt x="1522964" y="36897"/>
                  </a:cubicBezTo>
                  <a:lnTo>
                    <a:pt x="1522964" y="1336539"/>
                  </a:lnTo>
                  <a:cubicBezTo>
                    <a:pt x="1522964" y="1346325"/>
                    <a:pt x="1519077" y="1355710"/>
                    <a:pt x="1512157" y="1362630"/>
                  </a:cubicBezTo>
                  <a:cubicBezTo>
                    <a:pt x="1505238" y="1369549"/>
                    <a:pt x="1495853" y="1373437"/>
                    <a:pt x="1486067" y="1373437"/>
                  </a:cubicBezTo>
                  <a:lnTo>
                    <a:pt x="36897" y="1373437"/>
                  </a:lnTo>
                  <a:cubicBezTo>
                    <a:pt x="27111" y="1373437"/>
                    <a:pt x="17727" y="1369549"/>
                    <a:pt x="10807" y="1362630"/>
                  </a:cubicBezTo>
                  <a:cubicBezTo>
                    <a:pt x="3887" y="1355710"/>
                    <a:pt x="0" y="1346325"/>
                    <a:pt x="0" y="1336539"/>
                  </a:cubicBezTo>
                  <a:lnTo>
                    <a:pt x="0" y="36897"/>
                  </a:lnTo>
                  <a:cubicBezTo>
                    <a:pt x="0" y="27111"/>
                    <a:pt x="3887" y="17727"/>
                    <a:pt x="10807" y="10807"/>
                  </a:cubicBezTo>
                  <a:cubicBezTo>
                    <a:pt x="17727" y="3887"/>
                    <a:pt x="27111" y="0"/>
                    <a:pt x="36897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522964" cy="143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421479" y="4790015"/>
            <a:ext cx="6021377" cy="3593227"/>
          </a:xfrm>
          <a:custGeom>
            <a:avLst/>
            <a:gdLst/>
            <a:ahLst/>
            <a:cxnLst/>
            <a:rect r="r" b="b" t="t" l="l"/>
            <a:pathLst>
              <a:path h="3593227" w="6021377">
                <a:moveTo>
                  <a:pt x="0" y="0"/>
                </a:moveTo>
                <a:lnTo>
                  <a:pt x="6021377" y="0"/>
                </a:lnTo>
                <a:lnTo>
                  <a:pt x="6021377" y="3593227"/>
                </a:lnTo>
                <a:lnTo>
                  <a:pt x="0" y="3593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61764" y="4657523"/>
            <a:ext cx="6056655" cy="3858211"/>
          </a:xfrm>
          <a:custGeom>
            <a:avLst/>
            <a:gdLst/>
            <a:ahLst/>
            <a:cxnLst/>
            <a:rect r="r" b="b" t="t" l="l"/>
            <a:pathLst>
              <a:path h="3858211" w="6056655">
                <a:moveTo>
                  <a:pt x="0" y="0"/>
                </a:moveTo>
                <a:lnTo>
                  <a:pt x="6056655" y="0"/>
                </a:lnTo>
                <a:lnTo>
                  <a:pt x="6056655" y="3858211"/>
                </a:lnTo>
                <a:lnTo>
                  <a:pt x="0" y="385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8" r="0" b="-44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08917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 THE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32077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9978" y="1265070"/>
            <a:ext cx="4632667" cy="4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(DATASET AT A GLANCE)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48246" y="3610613"/>
            <a:ext cx="4974399" cy="71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8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Are Genders Distributed Across the Dataset?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67065" y="3806421"/>
            <a:ext cx="5751354" cy="71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8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Are Employees Distributed Across Departments?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5586" y="2446545"/>
            <a:ext cx="3092685" cy="43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33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Important KPIs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116528" y="3039288"/>
            <a:ext cx="802917" cy="802917"/>
            <a:chOff x="0" y="0"/>
            <a:chExt cx="1070556" cy="10705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70556" cy="107055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75762" y="209454"/>
              <a:ext cx="516386" cy="68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8"/>
                </a:lnSpc>
              </a:pPr>
              <a:r>
                <a:rPr lang="en-US" b="true" sz="350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82662" y="3039288"/>
            <a:ext cx="802917" cy="802917"/>
            <a:chOff x="0" y="0"/>
            <a:chExt cx="1070556" cy="10705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70556" cy="107055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75762" y="209454"/>
              <a:ext cx="516386" cy="68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8"/>
                </a:lnSpc>
              </a:pPr>
              <a:r>
                <a:rPr lang="en-US" b="true" sz="350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36619" y="1932"/>
            <a:ext cx="9810750" cy="10287000"/>
          </a:xfrm>
          <a:custGeom>
            <a:avLst/>
            <a:gdLst/>
            <a:ahLst/>
            <a:cxnLst/>
            <a:rect r="r" b="b" t="t" l="l"/>
            <a:pathLst>
              <a:path h="10287000" w="9810750">
                <a:moveTo>
                  <a:pt x="0" y="0"/>
                </a:moveTo>
                <a:lnTo>
                  <a:pt x="9810750" y="0"/>
                </a:lnTo>
                <a:lnTo>
                  <a:pt x="981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9" t="0" r="-286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878836" y="1932"/>
            <a:ext cx="6390048" cy="10287000"/>
            <a:chOff x="0" y="0"/>
            <a:chExt cx="168297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29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2976">
                  <a:moveTo>
                    <a:pt x="0" y="0"/>
                  </a:moveTo>
                  <a:lnTo>
                    <a:pt x="1682976" y="0"/>
                  </a:lnTo>
                  <a:lnTo>
                    <a:pt x="168297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682976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405694" y="-27506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200299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333720" y="3169320"/>
            <a:ext cx="5674782" cy="5722462"/>
            <a:chOff x="0" y="0"/>
            <a:chExt cx="1372976" cy="13845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2976" cy="1384512"/>
            </a:xfrm>
            <a:custGeom>
              <a:avLst/>
              <a:gdLst/>
              <a:ahLst/>
              <a:cxnLst/>
              <a:rect r="r" b="b" t="t" l="l"/>
              <a:pathLst>
                <a:path h="1384512" w="1372976">
                  <a:moveTo>
                    <a:pt x="40928" y="0"/>
                  </a:moveTo>
                  <a:lnTo>
                    <a:pt x="1332048" y="0"/>
                  </a:lnTo>
                  <a:cubicBezTo>
                    <a:pt x="1354652" y="0"/>
                    <a:pt x="1372976" y="18324"/>
                    <a:pt x="1372976" y="40928"/>
                  </a:cubicBezTo>
                  <a:lnTo>
                    <a:pt x="1372976" y="1343584"/>
                  </a:lnTo>
                  <a:cubicBezTo>
                    <a:pt x="1372976" y="1366188"/>
                    <a:pt x="1354652" y="1384512"/>
                    <a:pt x="1332048" y="1384512"/>
                  </a:cubicBezTo>
                  <a:lnTo>
                    <a:pt x="40928" y="1384512"/>
                  </a:lnTo>
                  <a:cubicBezTo>
                    <a:pt x="18324" y="1384512"/>
                    <a:pt x="0" y="1366188"/>
                    <a:pt x="0" y="1343584"/>
                  </a:cubicBezTo>
                  <a:lnTo>
                    <a:pt x="0" y="40928"/>
                  </a:lnTo>
                  <a:cubicBezTo>
                    <a:pt x="0" y="18324"/>
                    <a:pt x="18324" y="0"/>
                    <a:pt x="40928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72976" cy="1441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9396" y="3169459"/>
            <a:ext cx="5636139" cy="5722324"/>
            <a:chOff x="0" y="0"/>
            <a:chExt cx="1363626" cy="13844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3626" cy="1384478"/>
            </a:xfrm>
            <a:custGeom>
              <a:avLst/>
              <a:gdLst/>
              <a:ahLst/>
              <a:cxnLst/>
              <a:rect r="r" b="b" t="t" l="l"/>
              <a:pathLst>
                <a:path h="1384478" w="1363626">
                  <a:moveTo>
                    <a:pt x="41209" y="0"/>
                  </a:moveTo>
                  <a:lnTo>
                    <a:pt x="1322418" y="0"/>
                  </a:lnTo>
                  <a:cubicBezTo>
                    <a:pt x="1333347" y="0"/>
                    <a:pt x="1343828" y="4342"/>
                    <a:pt x="1351557" y="12070"/>
                  </a:cubicBezTo>
                  <a:cubicBezTo>
                    <a:pt x="1359285" y="19798"/>
                    <a:pt x="1363626" y="30279"/>
                    <a:pt x="1363626" y="41209"/>
                  </a:cubicBezTo>
                  <a:lnTo>
                    <a:pt x="1363626" y="1343269"/>
                  </a:lnTo>
                  <a:cubicBezTo>
                    <a:pt x="1363626" y="1354199"/>
                    <a:pt x="1359285" y="1364680"/>
                    <a:pt x="1351557" y="1372408"/>
                  </a:cubicBezTo>
                  <a:cubicBezTo>
                    <a:pt x="1343828" y="1380136"/>
                    <a:pt x="1333347" y="1384478"/>
                    <a:pt x="1322418" y="1384478"/>
                  </a:cubicBezTo>
                  <a:lnTo>
                    <a:pt x="41209" y="1384478"/>
                  </a:lnTo>
                  <a:cubicBezTo>
                    <a:pt x="18450" y="1384478"/>
                    <a:pt x="0" y="1366028"/>
                    <a:pt x="0" y="1343269"/>
                  </a:cubicBezTo>
                  <a:lnTo>
                    <a:pt x="0" y="41209"/>
                  </a:lnTo>
                  <a:cubicBezTo>
                    <a:pt x="0" y="30279"/>
                    <a:pt x="4342" y="19798"/>
                    <a:pt x="12070" y="12070"/>
                  </a:cubicBezTo>
                  <a:cubicBezTo>
                    <a:pt x="19798" y="4342"/>
                    <a:pt x="30279" y="0"/>
                    <a:pt x="41209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63626" cy="1441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6843" y="5288877"/>
            <a:ext cx="4980144" cy="3013357"/>
          </a:xfrm>
          <a:custGeom>
            <a:avLst/>
            <a:gdLst/>
            <a:ahLst/>
            <a:cxnLst/>
            <a:rect r="r" b="b" t="t" l="l"/>
            <a:pathLst>
              <a:path h="3013357" w="4980144">
                <a:moveTo>
                  <a:pt x="0" y="0"/>
                </a:moveTo>
                <a:lnTo>
                  <a:pt x="4980144" y="0"/>
                </a:lnTo>
                <a:lnTo>
                  <a:pt x="4980144" y="3013357"/>
                </a:lnTo>
                <a:lnTo>
                  <a:pt x="0" y="30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8" r="0" b="-22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33089" y="5237562"/>
            <a:ext cx="5154440" cy="3312907"/>
          </a:xfrm>
          <a:custGeom>
            <a:avLst/>
            <a:gdLst/>
            <a:ahLst/>
            <a:cxnLst/>
            <a:rect r="r" b="b" t="t" l="l"/>
            <a:pathLst>
              <a:path h="3312907" w="5154440">
                <a:moveTo>
                  <a:pt x="0" y="0"/>
                </a:moveTo>
                <a:lnTo>
                  <a:pt x="5154440" y="0"/>
                </a:lnTo>
                <a:lnTo>
                  <a:pt x="5154440" y="3312907"/>
                </a:lnTo>
                <a:lnTo>
                  <a:pt x="0" y="3312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294252" y="3169459"/>
            <a:ext cx="5426715" cy="5722324"/>
            <a:chOff x="0" y="0"/>
            <a:chExt cx="1312957" cy="13844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2957" cy="1384478"/>
            </a:xfrm>
            <a:custGeom>
              <a:avLst/>
              <a:gdLst/>
              <a:ahLst/>
              <a:cxnLst/>
              <a:rect r="r" b="b" t="t" l="l"/>
              <a:pathLst>
                <a:path h="1384478" w="1312957">
                  <a:moveTo>
                    <a:pt x="42799" y="0"/>
                  </a:moveTo>
                  <a:lnTo>
                    <a:pt x="1270159" y="0"/>
                  </a:lnTo>
                  <a:cubicBezTo>
                    <a:pt x="1281509" y="0"/>
                    <a:pt x="1292396" y="4509"/>
                    <a:pt x="1300422" y="12536"/>
                  </a:cubicBezTo>
                  <a:cubicBezTo>
                    <a:pt x="1308448" y="20562"/>
                    <a:pt x="1312957" y="31448"/>
                    <a:pt x="1312957" y="42799"/>
                  </a:cubicBezTo>
                  <a:lnTo>
                    <a:pt x="1312957" y="1341679"/>
                  </a:lnTo>
                  <a:cubicBezTo>
                    <a:pt x="1312957" y="1353030"/>
                    <a:pt x="1308448" y="1363916"/>
                    <a:pt x="1300422" y="1371943"/>
                  </a:cubicBezTo>
                  <a:cubicBezTo>
                    <a:pt x="1292396" y="1379969"/>
                    <a:pt x="1281509" y="1384478"/>
                    <a:pt x="1270159" y="1384478"/>
                  </a:cubicBezTo>
                  <a:lnTo>
                    <a:pt x="42799" y="1384478"/>
                  </a:lnTo>
                  <a:cubicBezTo>
                    <a:pt x="31448" y="1384478"/>
                    <a:pt x="20562" y="1379969"/>
                    <a:pt x="12536" y="1371943"/>
                  </a:cubicBezTo>
                  <a:cubicBezTo>
                    <a:pt x="4509" y="1363916"/>
                    <a:pt x="0" y="1353030"/>
                    <a:pt x="0" y="1341679"/>
                  </a:cubicBezTo>
                  <a:lnTo>
                    <a:pt x="0" y="42799"/>
                  </a:lnTo>
                  <a:cubicBezTo>
                    <a:pt x="0" y="31448"/>
                    <a:pt x="4509" y="20562"/>
                    <a:pt x="12536" y="12536"/>
                  </a:cubicBezTo>
                  <a:cubicBezTo>
                    <a:pt x="20562" y="4509"/>
                    <a:pt x="31448" y="0"/>
                    <a:pt x="42799" y="0"/>
                  </a:cubicBezTo>
                  <a:close/>
                </a:path>
              </a:pathLst>
            </a:custGeom>
            <a:solidFill>
              <a:srgbClr val="FFFFFF">
                <a:alpha val="1686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312957" cy="1441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551427" y="4945367"/>
            <a:ext cx="5013656" cy="3700376"/>
          </a:xfrm>
          <a:custGeom>
            <a:avLst/>
            <a:gdLst/>
            <a:ahLst/>
            <a:cxnLst/>
            <a:rect r="r" b="b" t="t" l="l"/>
            <a:pathLst>
              <a:path h="3700376" w="5013656">
                <a:moveTo>
                  <a:pt x="0" y="0"/>
                </a:moveTo>
                <a:lnTo>
                  <a:pt x="5013657" y="0"/>
                </a:lnTo>
                <a:lnTo>
                  <a:pt x="5013657" y="3700377"/>
                </a:lnTo>
                <a:lnTo>
                  <a:pt x="0" y="3700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59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08917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 THE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32077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9978" y="1265070"/>
            <a:ext cx="4632667" cy="4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(DATASET AT A GLANCE)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0220" y="3696727"/>
            <a:ext cx="5499675" cy="9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37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Attrition Rate Distribution?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6497" y="3687202"/>
            <a:ext cx="5151153" cy="87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4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Preformance Rating Per Department??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51427" y="3696727"/>
            <a:ext cx="4960865" cy="110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93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distribution of job satisfaction levels among employees?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25783" y="2768000"/>
            <a:ext cx="802917" cy="802917"/>
            <a:chOff x="0" y="0"/>
            <a:chExt cx="1070556" cy="10705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70556" cy="107055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75762" y="209454"/>
              <a:ext cx="516386" cy="68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8"/>
                </a:lnSpc>
              </a:pPr>
              <a:r>
                <a:rPr lang="en-US" b="true" sz="350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09895" y="2767861"/>
            <a:ext cx="802917" cy="802917"/>
            <a:chOff x="0" y="0"/>
            <a:chExt cx="1070556" cy="10705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70556" cy="107055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75762" y="209454"/>
              <a:ext cx="516386" cy="68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8"/>
                </a:lnSpc>
              </a:pPr>
              <a:r>
                <a:rPr lang="en-US" b="true" sz="350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70427" y="2767861"/>
            <a:ext cx="802917" cy="802917"/>
            <a:chOff x="0" y="0"/>
            <a:chExt cx="1070556" cy="107055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70556" cy="1070556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75762" y="209454"/>
              <a:ext cx="516386" cy="68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8"/>
                </a:lnSpc>
              </a:pPr>
              <a:r>
                <a:rPr lang="en-US" b="true" sz="350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86817" y="0"/>
            <a:ext cx="13127056" cy="10318770"/>
          </a:xfrm>
          <a:custGeom>
            <a:avLst/>
            <a:gdLst/>
            <a:ahLst/>
            <a:cxnLst/>
            <a:rect r="r" b="b" t="t" l="l"/>
            <a:pathLst>
              <a:path h="10318770" w="13127056">
                <a:moveTo>
                  <a:pt x="0" y="0"/>
                </a:moveTo>
                <a:lnTo>
                  <a:pt x="13127056" y="0"/>
                </a:lnTo>
                <a:lnTo>
                  <a:pt x="13127056" y="10318770"/>
                </a:lnTo>
                <a:lnTo>
                  <a:pt x="0" y="10318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5" t="0" r="-367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3742" y="0"/>
            <a:ext cx="3943172" cy="10287000"/>
            <a:chOff x="0" y="0"/>
            <a:chExt cx="103853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5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38531">
                  <a:moveTo>
                    <a:pt x="0" y="0"/>
                  </a:moveTo>
                  <a:lnTo>
                    <a:pt x="1038531" y="0"/>
                  </a:lnTo>
                  <a:lnTo>
                    <a:pt x="103853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38531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49611" y="-620601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2"/>
                </a:lnTo>
                <a:lnTo>
                  <a:pt x="0" y="820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787939" y="2097871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587914" y="2547235"/>
            <a:ext cx="5822098" cy="846921"/>
            <a:chOff x="0" y="0"/>
            <a:chExt cx="7762797" cy="112922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762797" cy="1129229"/>
              <a:chOff x="0" y="0"/>
              <a:chExt cx="1533392" cy="22305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33392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1533392">
                    <a:moveTo>
                      <a:pt x="67817" y="0"/>
                    </a:moveTo>
                    <a:lnTo>
                      <a:pt x="1465575" y="0"/>
                    </a:lnTo>
                    <a:cubicBezTo>
                      <a:pt x="1503029" y="0"/>
                      <a:pt x="1533392" y="30363"/>
                      <a:pt x="1533392" y="67817"/>
                    </a:cubicBezTo>
                    <a:lnTo>
                      <a:pt x="1533392" y="155240"/>
                    </a:lnTo>
                    <a:cubicBezTo>
                      <a:pt x="1533392" y="173227"/>
                      <a:pt x="1526247" y="190476"/>
                      <a:pt x="1513529" y="203194"/>
                    </a:cubicBezTo>
                    <a:cubicBezTo>
                      <a:pt x="1500811" y="215912"/>
                      <a:pt x="1483561" y="223057"/>
                      <a:pt x="1465575" y="223057"/>
                    </a:cubicBezTo>
                    <a:lnTo>
                      <a:pt x="67817" y="223057"/>
                    </a:lnTo>
                    <a:cubicBezTo>
                      <a:pt x="30363" y="223057"/>
                      <a:pt x="0" y="192695"/>
                      <a:pt x="0" y="155240"/>
                    </a:cubicBezTo>
                    <a:lnTo>
                      <a:pt x="0" y="67817"/>
                    </a:lnTo>
                    <a:cubicBezTo>
                      <a:pt x="0" y="30363"/>
                      <a:pt x="30363" y="0"/>
                      <a:pt x="67817" y="0"/>
                    </a:cubicBezTo>
                    <a:close/>
                  </a:path>
                </a:pathLst>
              </a:custGeom>
              <a:solidFill>
                <a:srgbClr val="FFFFFF">
                  <a:alpha val="4078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533392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254194" cy="1129229"/>
              <a:chOff x="0" y="0"/>
              <a:chExt cx="247742" cy="2230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7742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247742">
                    <a:moveTo>
                      <a:pt x="111529" y="0"/>
                    </a:moveTo>
                    <a:lnTo>
                      <a:pt x="136213" y="0"/>
                    </a:lnTo>
                    <a:cubicBezTo>
                      <a:pt x="165793" y="0"/>
                      <a:pt x="194160" y="11750"/>
                      <a:pt x="215076" y="32666"/>
                    </a:cubicBezTo>
                    <a:cubicBezTo>
                      <a:pt x="235992" y="53582"/>
                      <a:pt x="247742" y="81949"/>
                      <a:pt x="247742" y="111529"/>
                    </a:cubicBezTo>
                    <a:lnTo>
                      <a:pt x="247742" y="111529"/>
                    </a:lnTo>
                    <a:cubicBezTo>
                      <a:pt x="247742" y="141108"/>
                      <a:pt x="235992" y="169476"/>
                      <a:pt x="215076" y="190391"/>
                    </a:cubicBezTo>
                    <a:cubicBezTo>
                      <a:pt x="194160" y="211307"/>
                      <a:pt x="165793" y="223057"/>
                      <a:pt x="136213" y="223057"/>
                    </a:cubicBezTo>
                    <a:lnTo>
                      <a:pt x="111529" y="223057"/>
                    </a:lnTo>
                    <a:cubicBezTo>
                      <a:pt x="81949" y="223057"/>
                      <a:pt x="53582" y="211307"/>
                      <a:pt x="32666" y="190391"/>
                    </a:cubicBezTo>
                    <a:cubicBezTo>
                      <a:pt x="11750" y="169476"/>
                      <a:pt x="0" y="141108"/>
                      <a:pt x="0" y="111529"/>
                    </a:cubicBezTo>
                    <a:lnTo>
                      <a:pt x="0" y="111529"/>
                    </a:lnTo>
                    <a:cubicBezTo>
                      <a:pt x="0" y="81949"/>
                      <a:pt x="11750" y="53582"/>
                      <a:pt x="32666" y="32666"/>
                    </a:cubicBezTo>
                    <a:cubicBezTo>
                      <a:pt x="53582" y="11750"/>
                      <a:pt x="81949" y="0"/>
                      <a:pt x="111529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247742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1878676" y="2493262"/>
            <a:ext cx="5241073" cy="846921"/>
            <a:chOff x="0" y="0"/>
            <a:chExt cx="6988097" cy="112922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988097" cy="1129229"/>
              <a:chOff x="0" y="0"/>
              <a:chExt cx="1380365" cy="2230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0365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1380365">
                    <a:moveTo>
                      <a:pt x="75335" y="0"/>
                    </a:moveTo>
                    <a:lnTo>
                      <a:pt x="1305030" y="0"/>
                    </a:lnTo>
                    <a:cubicBezTo>
                      <a:pt x="1346636" y="0"/>
                      <a:pt x="1380365" y="33729"/>
                      <a:pt x="1380365" y="75335"/>
                    </a:cubicBezTo>
                    <a:lnTo>
                      <a:pt x="1380365" y="147722"/>
                    </a:lnTo>
                    <a:cubicBezTo>
                      <a:pt x="1380365" y="189329"/>
                      <a:pt x="1346636" y="223057"/>
                      <a:pt x="1305030" y="223057"/>
                    </a:cubicBezTo>
                    <a:lnTo>
                      <a:pt x="75335" y="223057"/>
                    </a:lnTo>
                    <a:cubicBezTo>
                      <a:pt x="33729" y="223057"/>
                      <a:pt x="0" y="189329"/>
                      <a:pt x="0" y="147722"/>
                    </a:cubicBezTo>
                    <a:lnTo>
                      <a:pt x="0" y="75335"/>
                    </a:lnTo>
                    <a:cubicBezTo>
                      <a:pt x="0" y="33729"/>
                      <a:pt x="33729" y="0"/>
                      <a:pt x="75335" y="0"/>
                    </a:cubicBezTo>
                    <a:close/>
                  </a:path>
                </a:pathLst>
              </a:custGeom>
              <a:solidFill>
                <a:srgbClr val="FFFFFF">
                  <a:alpha val="4078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1380365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129030" cy="1129229"/>
              <a:chOff x="0" y="0"/>
              <a:chExt cx="223018" cy="22305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3018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223018">
                    <a:moveTo>
                      <a:pt x="111509" y="0"/>
                    </a:moveTo>
                    <a:lnTo>
                      <a:pt x="111509" y="0"/>
                    </a:lnTo>
                    <a:cubicBezTo>
                      <a:pt x="141083" y="0"/>
                      <a:pt x="169446" y="11748"/>
                      <a:pt x="190358" y="32660"/>
                    </a:cubicBezTo>
                    <a:cubicBezTo>
                      <a:pt x="211270" y="53572"/>
                      <a:pt x="223018" y="81935"/>
                      <a:pt x="223018" y="111509"/>
                    </a:cubicBezTo>
                    <a:lnTo>
                      <a:pt x="223018" y="111548"/>
                    </a:lnTo>
                    <a:cubicBezTo>
                      <a:pt x="223018" y="141122"/>
                      <a:pt x="211270" y="169485"/>
                      <a:pt x="190358" y="190397"/>
                    </a:cubicBezTo>
                    <a:cubicBezTo>
                      <a:pt x="169446" y="211309"/>
                      <a:pt x="141083" y="223057"/>
                      <a:pt x="111509" y="223057"/>
                    </a:cubicBezTo>
                    <a:lnTo>
                      <a:pt x="111509" y="223057"/>
                    </a:lnTo>
                    <a:cubicBezTo>
                      <a:pt x="81935" y="223057"/>
                      <a:pt x="53572" y="211309"/>
                      <a:pt x="32660" y="190397"/>
                    </a:cubicBezTo>
                    <a:cubicBezTo>
                      <a:pt x="11748" y="169485"/>
                      <a:pt x="0" y="141122"/>
                      <a:pt x="0" y="111548"/>
                    </a:cubicBezTo>
                    <a:lnTo>
                      <a:pt x="0" y="111509"/>
                    </a:lnTo>
                    <a:cubicBezTo>
                      <a:pt x="0" y="81935"/>
                      <a:pt x="11748" y="53572"/>
                      <a:pt x="32660" y="32660"/>
                    </a:cubicBezTo>
                    <a:cubicBezTo>
                      <a:pt x="53572" y="11748"/>
                      <a:pt x="81935" y="0"/>
                      <a:pt x="111509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223018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4102671" y="3153144"/>
            <a:ext cx="12720612" cy="4874081"/>
          </a:xfrm>
          <a:custGeom>
            <a:avLst/>
            <a:gdLst/>
            <a:ahLst/>
            <a:cxnLst/>
            <a:rect r="r" b="b" t="t" l="l"/>
            <a:pathLst>
              <a:path h="4874081" w="12720612">
                <a:moveTo>
                  <a:pt x="0" y="0"/>
                </a:moveTo>
                <a:lnTo>
                  <a:pt x="12720612" y="0"/>
                </a:lnTo>
                <a:lnTo>
                  <a:pt x="12720612" y="4874081"/>
                </a:lnTo>
                <a:lnTo>
                  <a:pt x="0" y="487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595141" y="6268897"/>
            <a:ext cx="9330819" cy="2864517"/>
          </a:xfrm>
          <a:custGeom>
            <a:avLst/>
            <a:gdLst/>
            <a:ahLst/>
            <a:cxnLst/>
            <a:rect r="r" b="b" t="t" l="l"/>
            <a:pathLst>
              <a:path h="2864517" w="9330819">
                <a:moveTo>
                  <a:pt x="0" y="0"/>
                </a:moveTo>
                <a:lnTo>
                  <a:pt x="9330819" y="0"/>
                </a:lnTo>
                <a:lnTo>
                  <a:pt x="9330819" y="2864517"/>
                </a:lnTo>
                <a:lnTo>
                  <a:pt x="0" y="2864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591" t="-44152" r="-12767" b="-43817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87939" y="1184052"/>
            <a:ext cx="12113203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 AND 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87939" y="526954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34872" y="2639024"/>
            <a:ext cx="4896129" cy="5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Duplicates Detected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26500" y="2585052"/>
            <a:ext cx="3549246" cy="5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Nulls Found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93879" y="2743941"/>
            <a:ext cx="661958" cy="52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397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83451" y="2756502"/>
            <a:ext cx="661958" cy="52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397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6317" y="0"/>
            <a:ext cx="13127056" cy="10318770"/>
          </a:xfrm>
          <a:custGeom>
            <a:avLst/>
            <a:gdLst/>
            <a:ahLst/>
            <a:cxnLst/>
            <a:rect r="r" b="b" t="t" l="l"/>
            <a:pathLst>
              <a:path h="10318770" w="13127056">
                <a:moveTo>
                  <a:pt x="0" y="0"/>
                </a:moveTo>
                <a:lnTo>
                  <a:pt x="13127056" y="0"/>
                </a:lnTo>
                <a:lnTo>
                  <a:pt x="13127056" y="10318770"/>
                </a:lnTo>
                <a:lnTo>
                  <a:pt x="0" y="10318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5" t="0" r="-367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949" y="0"/>
            <a:ext cx="5327715" cy="10287000"/>
            <a:chOff x="0" y="0"/>
            <a:chExt cx="140318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18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03184">
                  <a:moveTo>
                    <a:pt x="0" y="0"/>
                  </a:moveTo>
                  <a:lnTo>
                    <a:pt x="1403184" y="0"/>
                  </a:lnTo>
                  <a:lnTo>
                    <a:pt x="140318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403184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553684" y="-280220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3"/>
                </a:lnTo>
                <a:lnTo>
                  <a:pt x="0" y="8206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787939" y="2097871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787939" y="2502816"/>
            <a:ext cx="5241073" cy="846921"/>
            <a:chOff x="0" y="0"/>
            <a:chExt cx="6988097" cy="112922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988097" cy="1129229"/>
              <a:chOff x="0" y="0"/>
              <a:chExt cx="1380365" cy="22305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0365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1380365">
                    <a:moveTo>
                      <a:pt x="75335" y="0"/>
                    </a:moveTo>
                    <a:lnTo>
                      <a:pt x="1305030" y="0"/>
                    </a:lnTo>
                    <a:cubicBezTo>
                      <a:pt x="1346636" y="0"/>
                      <a:pt x="1380365" y="33729"/>
                      <a:pt x="1380365" y="75335"/>
                    </a:cubicBezTo>
                    <a:lnTo>
                      <a:pt x="1380365" y="147722"/>
                    </a:lnTo>
                    <a:cubicBezTo>
                      <a:pt x="1380365" y="189329"/>
                      <a:pt x="1346636" y="223057"/>
                      <a:pt x="1305030" y="223057"/>
                    </a:cubicBezTo>
                    <a:lnTo>
                      <a:pt x="75335" y="223057"/>
                    </a:lnTo>
                    <a:cubicBezTo>
                      <a:pt x="33729" y="223057"/>
                      <a:pt x="0" y="189329"/>
                      <a:pt x="0" y="147722"/>
                    </a:cubicBezTo>
                    <a:lnTo>
                      <a:pt x="0" y="75335"/>
                    </a:lnTo>
                    <a:cubicBezTo>
                      <a:pt x="0" y="33729"/>
                      <a:pt x="33729" y="0"/>
                      <a:pt x="75335" y="0"/>
                    </a:cubicBezTo>
                    <a:close/>
                  </a:path>
                </a:pathLst>
              </a:custGeom>
              <a:solidFill>
                <a:srgbClr val="FFFFFF">
                  <a:alpha val="4078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380365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129030" cy="1129229"/>
              <a:chOff x="0" y="0"/>
              <a:chExt cx="223018" cy="2230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3018" cy="223057"/>
              </a:xfrm>
              <a:custGeom>
                <a:avLst/>
                <a:gdLst/>
                <a:ahLst/>
                <a:cxnLst/>
                <a:rect r="r" b="b" t="t" l="l"/>
                <a:pathLst>
                  <a:path h="223057" w="223018">
                    <a:moveTo>
                      <a:pt x="111509" y="0"/>
                    </a:moveTo>
                    <a:lnTo>
                      <a:pt x="111509" y="0"/>
                    </a:lnTo>
                    <a:cubicBezTo>
                      <a:pt x="141083" y="0"/>
                      <a:pt x="169446" y="11748"/>
                      <a:pt x="190358" y="32660"/>
                    </a:cubicBezTo>
                    <a:cubicBezTo>
                      <a:pt x="211270" y="53572"/>
                      <a:pt x="223018" y="81935"/>
                      <a:pt x="223018" y="111509"/>
                    </a:cubicBezTo>
                    <a:lnTo>
                      <a:pt x="223018" y="111548"/>
                    </a:lnTo>
                    <a:cubicBezTo>
                      <a:pt x="223018" y="141122"/>
                      <a:pt x="211270" y="169485"/>
                      <a:pt x="190358" y="190397"/>
                    </a:cubicBezTo>
                    <a:cubicBezTo>
                      <a:pt x="169446" y="211309"/>
                      <a:pt x="141083" y="223057"/>
                      <a:pt x="111509" y="223057"/>
                    </a:cubicBezTo>
                    <a:lnTo>
                      <a:pt x="111509" y="223057"/>
                    </a:lnTo>
                    <a:cubicBezTo>
                      <a:pt x="81935" y="223057"/>
                      <a:pt x="53572" y="211309"/>
                      <a:pt x="32660" y="190397"/>
                    </a:cubicBezTo>
                    <a:cubicBezTo>
                      <a:pt x="11748" y="169485"/>
                      <a:pt x="0" y="141122"/>
                      <a:pt x="0" y="111548"/>
                    </a:cubicBezTo>
                    <a:lnTo>
                      <a:pt x="0" y="111509"/>
                    </a:lnTo>
                    <a:cubicBezTo>
                      <a:pt x="0" y="81935"/>
                      <a:pt x="11748" y="53572"/>
                      <a:pt x="32660" y="32660"/>
                    </a:cubicBezTo>
                    <a:cubicBezTo>
                      <a:pt x="53572" y="11748"/>
                      <a:pt x="81935" y="0"/>
                      <a:pt x="111509" y="0"/>
                    </a:cubicBezTo>
                    <a:close/>
                  </a:path>
                </a:pathLst>
              </a:custGeom>
              <a:solidFill>
                <a:srgbClr val="D2B99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223018" cy="280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5994583" y="4592669"/>
            <a:ext cx="11102611" cy="3877835"/>
          </a:xfrm>
          <a:custGeom>
            <a:avLst/>
            <a:gdLst/>
            <a:ahLst/>
            <a:cxnLst/>
            <a:rect r="r" b="b" t="t" l="l"/>
            <a:pathLst>
              <a:path h="3877835" w="11102611">
                <a:moveTo>
                  <a:pt x="0" y="0"/>
                </a:moveTo>
                <a:lnTo>
                  <a:pt x="11102611" y="0"/>
                </a:lnTo>
                <a:lnTo>
                  <a:pt x="11102611" y="3877836"/>
                </a:lnTo>
                <a:lnTo>
                  <a:pt x="0" y="3877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99" t="-24360" r="-8508" b="-2514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87939" y="1184052"/>
            <a:ext cx="12113203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 AND PROCESSING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87939" y="526954"/>
            <a:ext cx="925969" cy="67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48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9085" y="2524756"/>
            <a:ext cx="3989939" cy="74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Dropped 4 Columns</a:t>
            </a:r>
          </a:p>
          <a:p>
            <a:pPr algn="l">
              <a:lnSpc>
                <a:spcPts val="2987"/>
              </a:lnSpc>
            </a:pPr>
            <a:r>
              <a:rPr lang="en-US" sz="2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*All containing One Value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50647" y="2712366"/>
            <a:ext cx="661958" cy="52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397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5084" y="-1443291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34036" y="1884735"/>
            <a:ext cx="1878770" cy="0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40442" y="3211962"/>
            <a:ext cx="6261174" cy="5763126"/>
          </a:xfrm>
          <a:custGeom>
            <a:avLst/>
            <a:gdLst/>
            <a:ahLst/>
            <a:cxnLst/>
            <a:rect r="r" b="b" t="t" l="l"/>
            <a:pathLst>
              <a:path h="5763126" w="6261174">
                <a:moveTo>
                  <a:pt x="0" y="0"/>
                </a:moveTo>
                <a:lnTo>
                  <a:pt x="6261174" y="0"/>
                </a:lnTo>
                <a:lnTo>
                  <a:pt x="6261174" y="5763126"/>
                </a:lnTo>
                <a:lnTo>
                  <a:pt x="0" y="5763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4094" y="2413372"/>
            <a:ext cx="11604536" cy="5989501"/>
          </a:xfrm>
          <a:custGeom>
            <a:avLst/>
            <a:gdLst/>
            <a:ahLst/>
            <a:cxnLst/>
            <a:rect r="r" b="b" t="t" l="l"/>
            <a:pathLst>
              <a:path h="5989501" w="11604536">
                <a:moveTo>
                  <a:pt x="0" y="0"/>
                </a:moveTo>
                <a:lnTo>
                  <a:pt x="11604536" y="0"/>
                </a:lnTo>
                <a:lnTo>
                  <a:pt x="11604536" y="5989501"/>
                </a:lnTo>
                <a:lnTo>
                  <a:pt x="0" y="5989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81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6317" y="7991845"/>
            <a:ext cx="10259499" cy="983243"/>
          </a:xfrm>
          <a:custGeom>
            <a:avLst/>
            <a:gdLst/>
            <a:ahLst/>
            <a:cxnLst/>
            <a:rect r="r" b="b" t="t" l="l"/>
            <a:pathLst>
              <a:path h="983243" w="10259499">
                <a:moveTo>
                  <a:pt x="0" y="0"/>
                </a:moveTo>
                <a:lnTo>
                  <a:pt x="10259499" y="0"/>
                </a:lnTo>
                <a:lnTo>
                  <a:pt x="10259499" y="983243"/>
                </a:lnTo>
                <a:lnTo>
                  <a:pt x="0" y="98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4036" y="734632"/>
            <a:ext cx="6280243" cy="61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4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EXPLORATORY ANALYSIS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036" y="201695"/>
            <a:ext cx="727041" cy="5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38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36" y="1371165"/>
            <a:ext cx="4326569" cy="27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(ANSWERING BUSINESS QUESTIONS)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5472" y="2356222"/>
            <a:ext cx="104003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overall attrition rate and how it varies across departments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5084" y="-1443291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34036" y="1884735"/>
            <a:ext cx="1878770" cy="0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34036" y="3135073"/>
            <a:ext cx="5656176" cy="2864423"/>
          </a:xfrm>
          <a:custGeom>
            <a:avLst/>
            <a:gdLst/>
            <a:ahLst/>
            <a:cxnLst/>
            <a:rect r="r" b="b" t="t" l="l"/>
            <a:pathLst>
              <a:path h="2864423" w="5656176">
                <a:moveTo>
                  <a:pt x="0" y="0"/>
                </a:moveTo>
                <a:lnTo>
                  <a:pt x="5656176" y="0"/>
                </a:lnTo>
                <a:lnTo>
                  <a:pt x="5656176" y="2864423"/>
                </a:lnTo>
                <a:lnTo>
                  <a:pt x="0" y="2864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45" t="-12953" r="-8349" b="-1648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00493" y="3169405"/>
            <a:ext cx="5738550" cy="2652786"/>
          </a:xfrm>
          <a:custGeom>
            <a:avLst/>
            <a:gdLst/>
            <a:ahLst/>
            <a:cxnLst/>
            <a:rect r="r" b="b" t="t" l="l"/>
            <a:pathLst>
              <a:path h="2652786" w="5738550">
                <a:moveTo>
                  <a:pt x="0" y="0"/>
                </a:moveTo>
                <a:lnTo>
                  <a:pt x="5738550" y="0"/>
                </a:lnTo>
                <a:lnTo>
                  <a:pt x="5738550" y="2652786"/>
                </a:lnTo>
                <a:lnTo>
                  <a:pt x="0" y="265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05" t="-21591" r="-8079" b="-205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95339" y="3135073"/>
            <a:ext cx="6027236" cy="3007395"/>
          </a:xfrm>
          <a:custGeom>
            <a:avLst/>
            <a:gdLst/>
            <a:ahLst/>
            <a:cxnLst/>
            <a:rect r="r" b="b" t="t" l="l"/>
            <a:pathLst>
              <a:path h="3007395" w="6027236">
                <a:moveTo>
                  <a:pt x="0" y="0"/>
                </a:moveTo>
                <a:lnTo>
                  <a:pt x="6027237" y="0"/>
                </a:lnTo>
                <a:lnTo>
                  <a:pt x="6027237" y="3007394"/>
                </a:lnTo>
                <a:lnTo>
                  <a:pt x="0" y="3007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422" t="-14893" r="-10114" b="-1787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036" y="6304296"/>
            <a:ext cx="5569767" cy="3438479"/>
          </a:xfrm>
          <a:custGeom>
            <a:avLst/>
            <a:gdLst/>
            <a:ahLst/>
            <a:cxnLst/>
            <a:rect r="r" b="b" t="t" l="l"/>
            <a:pathLst>
              <a:path h="3438479" w="5569767">
                <a:moveTo>
                  <a:pt x="0" y="0"/>
                </a:moveTo>
                <a:lnTo>
                  <a:pt x="5569767" y="0"/>
                </a:lnTo>
                <a:lnTo>
                  <a:pt x="5569767" y="3438478"/>
                </a:lnTo>
                <a:lnTo>
                  <a:pt x="0" y="3438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060297" y="2992101"/>
            <a:ext cx="0" cy="700171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157618" y="2969477"/>
            <a:ext cx="0" cy="700171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314781" y="6364915"/>
            <a:ext cx="5745783" cy="3410099"/>
          </a:xfrm>
          <a:custGeom>
            <a:avLst/>
            <a:gdLst/>
            <a:ahLst/>
            <a:cxnLst/>
            <a:rect r="r" b="b" t="t" l="l"/>
            <a:pathLst>
              <a:path h="3410099" w="5745783">
                <a:moveTo>
                  <a:pt x="0" y="0"/>
                </a:moveTo>
                <a:lnTo>
                  <a:pt x="5745782" y="0"/>
                </a:lnTo>
                <a:lnTo>
                  <a:pt x="5745782" y="3410099"/>
                </a:lnTo>
                <a:lnTo>
                  <a:pt x="0" y="3410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61824" y="6466221"/>
            <a:ext cx="5838631" cy="3207489"/>
          </a:xfrm>
          <a:custGeom>
            <a:avLst/>
            <a:gdLst/>
            <a:ahLst/>
            <a:cxnLst/>
            <a:rect r="r" b="b" t="t" l="l"/>
            <a:pathLst>
              <a:path h="3207489" w="5838631">
                <a:moveTo>
                  <a:pt x="0" y="0"/>
                </a:moveTo>
                <a:lnTo>
                  <a:pt x="5838632" y="0"/>
                </a:lnTo>
                <a:lnTo>
                  <a:pt x="5838632" y="3207488"/>
                </a:lnTo>
                <a:lnTo>
                  <a:pt x="0" y="32074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4036" y="734632"/>
            <a:ext cx="6280243" cy="61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4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EXPLORATORY ANALYSIS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036" y="201695"/>
            <a:ext cx="727041" cy="5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38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4036" y="1371165"/>
            <a:ext cx="4326569" cy="27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(ANSWERING BUSINESS QUESTIONS)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521" y="2150188"/>
            <a:ext cx="936186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 is the attrition rate by department, job role, and overtime status?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2209" y="2543929"/>
            <a:ext cx="2773420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54713" y="2543929"/>
            <a:ext cx="2108489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OVERTIME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55052" y="2631738"/>
            <a:ext cx="2029431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JOB ROLE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5084" y="-1443291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34036" y="1884735"/>
            <a:ext cx="1878770" cy="0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34036" y="2969477"/>
            <a:ext cx="6095107" cy="3424821"/>
          </a:xfrm>
          <a:custGeom>
            <a:avLst/>
            <a:gdLst/>
            <a:ahLst/>
            <a:cxnLst/>
            <a:rect r="r" b="b" t="t" l="l"/>
            <a:pathLst>
              <a:path h="3424821" w="6095107">
                <a:moveTo>
                  <a:pt x="0" y="0"/>
                </a:moveTo>
                <a:lnTo>
                  <a:pt x="6095107" y="0"/>
                </a:lnTo>
                <a:lnTo>
                  <a:pt x="6095107" y="3424821"/>
                </a:lnTo>
                <a:lnTo>
                  <a:pt x="0" y="3424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10" t="-17174" r="-11687" b="-14818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6628566" y="2468195"/>
            <a:ext cx="43588" cy="758554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2093711" y="2516864"/>
            <a:ext cx="43588" cy="758554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32561" y="3240253"/>
            <a:ext cx="5518465" cy="2599615"/>
          </a:xfrm>
          <a:custGeom>
            <a:avLst/>
            <a:gdLst/>
            <a:ahLst/>
            <a:cxnLst/>
            <a:rect r="r" b="b" t="t" l="l"/>
            <a:pathLst>
              <a:path h="2599615" w="5518465">
                <a:moveTo>
                  <a:pt x="0" y="0"/>
                </a:moveTo>
                <a:lnTo>
                  <a:pt x="5518465" y="0"/>
                </a:lnTo>
                <a:lnTo>
                  <a:pt x="5518465" y="2599616"/>
                </a:lnTo>
                <a:lnTo>
                  <a:pt x="0" y="259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92" t="-20431" r="-9055" b="-205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37299" y="5404686"/>
            <a:ext cx="5343213" cy="3014710"/>
          </a:xfrm>
          <a:custGeom>
            <a:avLst/>
            <a:gdLst/>
            <a:ahLst/>
            <a:cxnLst/>
            <a:rect r="r" b="b" t="t" l="l"/>
            <a:pathLst>
              <a:path h="3014710" w="5343213">
                <a:moveTo>
                  <a:pt x="0" y="0"/>
                </a:moveTo>
                <a:lnTo>
                  <a:pt x="5343213" y="0"/>
                </a:lnTo>
                <a:lnTo>
                  <a:pt x="5343213" y="3014710"/>
                </a:lnTo>
                <a:lnTo>
                  <a:pt x="0" y="3014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91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84653" y="7687753"/>
            <a:ext cx="4086881" cy="2296931"/>
          </a:xfrm>
          <a:custGeom>
            <a:avLst/>
            <a:gdLst/>
            <a:ahLst/>
            <a:cxnLst/>
            <a:rect r="r" b="b" t="t" l="l"/>
            <a:pathLst>
              <a:path h="2296931" w="4086881">
                <a:moveTo>
                  <a:pt x="0" y="0"/>
                </a:moveTo>
                <a:lnTo>
                  <a:pt x="4086881" y="0"/>
                </a:lnTo>
                <a:lnTo>
                  <a:pt x="4086881" y="2296931"/>
                </a:lnTo>
                <a:lnTo>
                  <a:pt x="0" y="229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55401" y="6912041"/>
            <a:ext cx="5220899" cy="3006362"/>
          </a:xfrm>
          <a:custGeom>
            <a:avLst/>
            <a:gdLst/>
            <a:ahLst/>
            <a:cxnLst/>
            <a:rect r="r" b="b" t="t" l="l"/>
            <a:pathLst>
              <a:path h="3006362" w="5220899">
                <a:moveTo>
                  <a:pt x="0" y="0"/>
                </a:moveTo>
                <a:lnTo>
                  <a:pt x="5220900" y="0"/>
                </a:lnTo>
                <a:lnTo>
                  <a:pt x="5220900" y="3006363"/>
                </a:lnTo>
                <a:lnTo>
                  <a:pt x="0" y="3006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21773" y="3006861"/>
            <a:ext cx="4888157" cy="3724545"/>
          </a:xfrm>
          <a:custGeom>
            <a:avLst/>
            <a:gdLst/>
            <a:ahLst/>
            <a:cxnLst/>
            <a:rect r="r" b="b" t="t" l="l"/>
            <a:pathLst>
              <a:path h="3724545" w="4888157">
                <a:moveTo>
                  <a:pt x="0" y="0"/>
                </a:moveTo>
                <a:lnTo>
                  <a:pt x="4888156" y="0"/>
                </a:lnTo>
                <a:lnTo>
                  <a:pt x="4888156" y="3724545"/>
                </a:lnTo>
                <a:lnTo>
                  <a:pt x="0" y="37245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577" t="-14075" r="-10746" b="-1160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15603" y="5384878"/>
            <a:ext cx="2635423" cy="454990"/>
          </a:xfrm>
          <a:custGeom>
            <a:avLst/>
            <a:gdLst/>
            <a:ahLst/>
            <a:cxnLst/>
            <a:rect r="r" b="b" t="t" l="l"/>
            <a:pathLst>
              <a:path h="454990" w="2635423">
                <a:moveTo>
                  <a:pt x="0" y="0"/>
                </a:moveTo>
                <a:lnTo>
                  <a:pt x="2635423" y="0"/>
                </a:lnTo>
                <a:lnTo>
                  <a:pt x="2635423" y="454991"/>
                </a:lnTo>
                <a:lnTo>
                  <a:pt x="0" y="4549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206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4036" y="6757818"/>
            <a:ext cx="5777995" cy="3163518"/>
          </a:xfrm>
          <a:custGeom>
            <a:avLst/>
            <a:gdLst/>
            <a:ahLst/>
            <a:cxnLst/>
            <a:rect r="r" b="b" t="t" l="l"/>
            <a:pathLst>
              <a:path h="3163518" w="5777995">
                <a:moveTo>
                  <a:pt x="0" y="0"/>
                </a:moveTo>
                <a:lnTo>
                  <a:pt x="5777995" y="0"/>
                </a:lnTo>
                <a:lnTo>
                  <a:pt x="5777995" y="3163518"/>
                </a:lnTo>
                <a:lnTo>
                  <a:pt x="0" y="3163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4036" y="734632"/>
            <a:ext cx="6280243" cy="61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4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EXPLORATORY ANALYSIS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4036" y="201695"/>
            <a:ext cx="727041" cy="5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38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036" y="1371165"/>
            <a:ext cx="4326569" cy="27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(ANSWERING BUSINESS QUESTIONS)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861" y="2150188"/>
            <a:ext cx="6075010" cy="67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 is the average monthly income by job level and attrition status?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6129" y="2150188"/>
            <a:ext cx="4779445" cy="67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ich employees combine low job satisfaction with frequent overtime?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02071" y="1816895"/>
            <a:ext cx="4779445" cy="134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ich department has the highest attrition, and how does it break down by job role within that department?</a:t>
            </a:r>
          </a:p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Diagonstic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5084" y="-1443291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34036" y="1884735"/>
            <a:ext cx="1878770" cy="0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6628566" y="2468195"/>
            <a:ext cx="43588" cy="758554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2093711" y="2516864"/>
            <a:ext cx="43588" cy="7585541"/>
          </a:xfrm>
          <a:prstGeom prst="line">
            <a:avLst/>
          </a:prstGeom>
          <a:ln cap="flat" w="285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12591" y="6629815"/>
            <a:ext cx="6240280" cy="3677756"/>
          </a:xfrm>
          <a:custGeom>
            <a:avLst/>
            <a:gdLst/>
            <a:ahLst/>
            <a:cxnLst/>
            <a:rect r="r" b="b" t="t" l="l"/>
            <a:pathLst>
              <a:path h="3677756" w="6240280">
                <a:moveTo>
                  <a:pt x="0" y="0"/>
                </a:moveTo>
                <a:lnTo>
                  <a:pt x="6240279" y="0"/>
                </a:lnTo>
                <a:lnTo>
                  <a:pt x="6240279" y="3677756"/>
                </a:lnTo>
                <a:lnTo>
                  <a:pt x="0" y="367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79" t="0" r="-767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0556" y="2826226"/>
            <a:ext cx="5434622" cy="3772558"/>
          </a:xfrm>
          <a:custGeom>
            <a:avLst/>
            <a:gdLst/>
            <a:ahLst/>
            <a:cxnLst/>
            <a:rect r="r" b="b" t="t" l="l"/>
            <a:pathLst>
              <a:path h="3772558" w="5434622">
                <a:moveTo>
                  <a:pt x="0" y="0"/>
                </a:moveTo>
                <a:lnTo>
                  <a:pt x="5434623" y="0"/>
                </a:lnTo>
                <a:lnTo>
                  <a:pt x="5434623" y="3772558"/>
                </a:lnTo>
                <a:lnTo>
                  <a:pt x="0" y="3772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31" t="-22097" r="-9928" b="-1280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63156" y="6629815"/>
            <a:ext cx="5239554" cy="2878381"/>
          </a:xfrm>
          <a:custGeom>
            <a:avLst/>
            <a:gdLst/>
            <a:ahLst/>
            <a:cxnLst/>
            <a:rect r="r" b="b" t="t" l="l"/>
            <a:pathLst>
              <a:path h="2878381" w="5239554">
                <a:moveTo>
                  <a:pt x="0" y="0"/>
                </a:moveTo>
                <a:lnTo>
                  <a:pt x="5239553" y="0"/>
                </a:lnTo>
                <a:lnTo>
                  <a:pt x="5239553" y="2878381"/>
                </a:lnTo>
                <a:lnTo>
                  <a:pt x="0" y="2878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07858" y="3726252"/>
            <a:ext cx="5150148" cy="1972507"/>
          </a:xfrm>
          <a:custGeom>
            <a:avLst/>
            <a:gdLst/>
            <a:ahLst/>
            <a:cxnLst/>
            <a:rect r="r" b="b" t="t" l="l"/>
            <a:pathLst>
              <a:path h="1972507" w="5150148">
                <a:moveTo>
                  <a:pt x="0" y="0"/>
                </a:moveTo>
                <a:lnTo>
                  <a:pt x="5150149" y="0"/>
                </a:lnTo>
                <a:lnTo>
                  <a:pt x="5150149" y="1972507"/>
                </a:lnTo>
                <a:lnTo>
                  <a:pt x="0" y="1972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80" t="-23576" r="-8952" b="-2223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75411" y="3311637"/>
            <a:ext cx="5852376" cy="2212587"/>
          </a:xfrm>
          <a:custGeom>
            <a:avLst/>
            <a:gdLst/>
            <a:ahLst/>
            <a:cxnLst/>
            <a:rect r="r" b="b" t="t" l="l"/>
            <a:pathLst>
              <a:path h="2212587" w="5852376">
                <a:moveTo>
                  <a:pt x="0" y="0"/>
                </a:moveTo>
                <a:lnTo>
                  <a:pt x="5852376" y="0"/>
                </a:lnTo>
                <a:lnTo>
                  <a:pt x="5852376" y="2212587"/>
                </a:lnTo>
                <a:lnTo>
                  <a:pt x="0" y="2212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195" t="-28811" r="-8460" b="-257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61136" y="7657611"/>
            <a:ext cx="2785476" cy="2454675"/>
          </a:xfrm>
          <a:custGeom>
            <a:avLst/>
            <a:gdLst/>
            <a:ahLst/>
            <a:cxnLst/>
            <a:rect r="r" b="b" t="t" l="l"/>
            <a:pathLst>
              <a:path h="2454675" w="2785476">
                <a:moveTo>
                  <a:pt x="0" y="0"/>
                </a:moveTo>
                <a:lnTo>
                  <a:pt x="2785476" y="0"/>
                </a:lnTo>
                <a:lnTo>
                  <a:pt x="2785476" y="2454675"/>
                </a:lnTo>
                <a:lnTo>
                  <a:pt x="0" y="2454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6478" t="0" r="-9541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22812" y="7657611"/>
            <a:ext cx="2735372" cy="2444794"/>
          </a:xfrm>
          <a:custGeom>
            <a:avLst/>
            <a:gdLst/>
            <a:ahLst/>
            <a:cxnLst/>
            <a:rect r="r" b="b" t="t" l="l"/>
            <a:pathLst>
              <a:path h="2444794" w="2735372">
                <a:moveTo>
                  <a:pt x="0" y="0"/>
                </a:moveTo>
                <a:lnTo>
                  <a:pt x="2735372" y="0"/>
                </a:lnTo>
                <a:lnTo>
                  <a:pt x="2735372" y="2444794"/>
                </a:lnTo>
                <a:lnTo>
                  <a:pt x="0" y="24447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6622" t="-98" r="0" b="-9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03650" y="5278341"/>
            <a:ext cx="2254534" cy="2261363"/>
          </a:xfrm>
          <a:custGeom>
            <a:avLst/>
            <a:gdLst/>
            <a:ahLst/>
            <a:cxnLst/>
            <a:rect r="r" b="b" t="t" l="l"/>
            <a:pathLst>
              <a:path h="2261363" w="2254534">
                <a:moveTo>
                  <a:pt x="0" y="0"/>
                </a:moveTo>
                <a:lnTo>
                  <a:pt x="2254534" y="0"/>
                </a:lnTo>
                <a:lnTo>
                  <a:pt x="2254534" y="2261363"/>
                </a:lnTo>
                <a:lnTo>
                  <a:pt x="0" y="2261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840" r="-20684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4036" y="734632"/>
            <a:ext cx="6280243" cy="61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4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EXPLORATORY ANALYSIS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4036" y="201695"/>
            <a:ext cx="727041" cy="5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38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036" y="1371165"/>
            <a:ext cx="5605526" cy="27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(DIAGNOSTIC ANALYTICS QUESTIONS)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861" y="2150188"/>
            <a:ext cx="6075010" cy="67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Bucke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"years at company" into tenure groups and compute attrition rate per group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6129" y="2150188"/>
            <a:ext cx="4779445" cy="100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Cross-tabulate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overtime status against attrition, and job satisfaction score against attrition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0686" y="2101600"/>
            <a:ext cx="4779445" cy="134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  <a:spcBef>
                <a:spcPct val="0"/>
              </a:spcBef>
            </a:pP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</a:t>
            </a:r>
            <a:r>
              <a:rPr lang="en-US" sz="1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pare average income, satisfaction, and work-life balance scores between employees who left vs. stayed</a:t>
            </a:r>
          </a:p>
          <a:p>
            <a:pPr algn="l">
              <a:lnSpc>
                <a:spcPts val="26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3471" y="-140429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385" y="1266349"/>
            <a:ext cx="15539230" cy="8731817"/>
          </a:xfrm>
          <a:custGeom>
            <a:avLst/>
            <a:gdLst/>
            <a:ahLst/>
            <a:cxnLst/>
            <a:rect r="r" b="b" t="t" l="l"/>
            <a:pathLst>
              <a:path h="8731817" w="15539230">
                <a:moveTo>
                  <a:pt x="0" y="0"/>
                </a:moveTo>
                <a:lnTo>
                  <a:pt x="15539230" y="0"/>
                </a:lnTo>
                <a:lnTo>
                  <a:pt x="15539230" y="8731816"/>
                </a:lnTo>
                <a:lnTo>
                  <a:pt x="0" y="8731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15088" y="1123474"/>
            <a:ext cx="2513232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7652" y="271858"/>
            <a:ext cx="10735750" cy="83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58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DASHBOARDING &amp; REPORTS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088" y="312872"/>
            <a:ext cx="972564" cy="73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511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3471" y="-140429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15088" y="1123474"/>
            <a:ext cx="2513232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5618" y="1266349"/>
            <a:ext cx="15536503" cy="8711148"/>
          </a:xfrm>
          <a:custGeom>
            <a:avLst/>
            <a:gdLst/>
            <a:ahLst/>
            <a:cxnLst/>
            <a:rect r="r" b="b" t="t" l="l"/>
            <a:pathLst>
              <a:path h="8711148" w="15536503">
                <a:moveTo>
                  <a:pt x="0" y="0"/>
                </a:moveTo>
                <a:lnTo>
                  <a:pt x="15536503" y="0"/>
                </a:lnTo>
                <a:lnTo>
                  <a:pt x="15536503" y="8711148"/>
                </a:lnTo>
                <a:lnTo>
                  <a:pt x="0" y="871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7652" y="271858"/>
            <a:ext cx="10735750" cy="83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58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DASHBOARDING &amp; REPORTS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088" y="252808"/>
            <a:ext cx="972564" cy="73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511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3471" y="-140429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15088" y="1123474"/>
            <a:ext cx="2513232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9871" y="1266349"/>
            <a:ext cx="15542296" cy="8763080"/>
          </a:xfrm>
          <a:custGeom>
            <a:avLst/>
            <a:gdLst/>
            <a:ahLst/>
            <a:cxnLst/>
            <a:rect r="r" b="b" t="t" l="l"/>
            <a:pathLst>
              <a:path h="8763080" w="15542296">
                <a:moveTo>
                  <a:pt x="0" y="0"/>
                </a:moveTo>
                <a:lnTo>
                  <a:pt x="15542296" y="0"/>
                </a:lnTo>
                <a:lnTo>
                  <a:pt x="15542296" y="8763080"/>
                </a:lnTo>
                <a:lnTo>
                  <a:pt x="0" y="8763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7652" y="271858"/>
            <a:ext cx="10735750" cy="83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58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DASHBOARDING &amp; REPORTS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088" y="252808"/>
            <a:ext cx="972564" cy="73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511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5194" y="488322"/>
            <a:ext cx="21958388" cy="9310357"/>
          </a:xfrm>
          <a:custGeom>
            <a:avLst/>
            <a:gdLst/>
            <a:ahLst/>
            <a:cxnLst/>
            <a:rect r="r" b="b" t="t" l="l"/>
            <a:pathLst>
              <a:path h="9310357" w="21958388">
                <a:moveTo>
                  <a:pt x="0" y="0"/>
                </a:moveTo>
                <a:lnTo>
                  <a:pt x="21958388" y="0"/>
                </a:lnTo>
                <a:lnTo>
                  <a:pt x="21958388" y="9310356"/>
                </a:lnTo>
                <a:lnTo>
                  <a:pt x="0" y="9310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3458" y="4512231"/>
            <a:ext cx="8401085" cy="135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1"/>
              </a:lnSpc>
            </a:pPr>
            <a:r>
              <a:rPr lang="en-US" sz="95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DAHTLoBsZ5g</dc:identifier>
  <dcterms:modified xsi:type="dcterms:W3CDTF">2011-08-01T06:04:30Z</dcterms:modified>
  <cp:revision>1</cp:revision>
  <dc:title>Final Presentation</dc:title>
</cp:coreProperties>
</file>